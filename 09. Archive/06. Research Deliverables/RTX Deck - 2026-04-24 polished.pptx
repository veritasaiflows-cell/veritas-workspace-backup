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RTX Corporation (NYSE: RTX)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Visual investment deck | Generated from Veritas report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44752"/>
            <a:ext cx="4343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Q1 execution was solid and guidance improved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Analysts still see upside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Chart remains weak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Current stance: bench until repair</a:t>
            </a:r>
          </a:p>
        </p:txBody>
      </p:sp>
      <p:pic>
        <p:nvPicPr>
          <p:cNvPr id="5" name="Picture 4" descr="rtx-price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170432"/>
            <a:ext cx="6355080" cy="3214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What matters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2646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Close</a:t>
            </a:r>
          </a:p>
          <a:p>
            <a:r>
              <a:rPr sz="2000" b="1">
                <a:solidFill>
                  <a:srgbClr val="111111"/>
                </a:solidFill>
              </a:rPr>
              <a:t>$174.26</a:t>
            </a:r>
          </a:p>
          <a:p>
            <a:r>
              <a:rPr sz="1000">
                <a:solidFill>
                  <a:srgbClr val="B94728"/>
                </a:solidFill>
              </a:rPr>
              <a:t>52-wk high $214.50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32588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2544" y="142646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Consensus target</a:t>
            </a:r>
          </a:p>
          <a:p>
            <a:r>
              <a:rPr sz="2000" b="1">
                <a:solidFill>
                  <a:srgbClr val="111111"/>
                </a:solidFill>
              </a:rPr>
              <a:t>$215.06</a:t>
            </a:r>
          </a:p>
          <a:p>
            <a:r>
              <a:rPr sz="1000">
                <a:solidFill>
                  <a:srgbClr val="0D8A53"/>
                </a:solidFill>
              </a:rPr>
              <a:t>22 analysts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2944" y="132588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7536" y="142646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Current stance</a:t>
            </a:r>
          </a:p>
          <a:p>
            <a:r>
              <a:rPr sz="2000" b="1">
                <a:solidFill>
                  <a:srgbClr val="111111"/>
                </a:solidFill>
              </a:rPr>
              <a:t>Bench</a:t>
            </a:r>
          </a:p>
          <a:p>
            <a:r>
              <a:rPr sz="1000">
                <a:solidFill>
                  <a:srgbClr val="B94728"/>
                </a:solidFill>
              </a:rPr>
              <a:t>Wait for repair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4526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Solid quarter, stronger guide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Backlog remains supportive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Analyst view is constructive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Technical picture is still the blocker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Do not force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090672"/>
            <a:ext cx="4389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Business: credible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Quarter: supportive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Chart: weak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Action: patience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Upgrade path: repair + reclaim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Q1 2026 Results and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Strong quarter, but not enough to override weak structure</a:t>
            </a:r>
          </a:p>
        </p:txBody>
      </p:sp>
      <p:pic>
        <p:nvPicPr>
          <p:cNvPr id="4" name="Picture 3" descr="rtx-earning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170432"/>
            <a:ext cx="10698480" cy="60178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742432"/>
            <a:ext cx="10012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Revenue, EPS, EBITDA, and backlog all support the business case</a:t>
            </a:r>
          </a:p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Guide improved, but price still has not confirmed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Segment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Where the quarter was strongest</a:t>
            </a:r>
          </a:p>
        </p:txBody>
      </p:sp>
      <p:pic>
        <p:nvPicPr>
          <p:cNvPr id="4" name="Picture 3" descr="rtx-segment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170432"/>
            <a:ext cx="10698480" cy="3901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742432"/>
            <a:ext cx="10012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Raytheon and Pratt &amp; Whitney led the quarter</a:t>
            </a:r>
          </a:p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Collins remained positive but softer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Historical Financial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Revenue and EPS trajectory</a:t>
            </a:r>
          </a:p>
        </p:txBody>
      </p:sp>
      <p:pic>
        <p:nvPicPr>
          <p:cNvPr id="4" name="Picture 3" descr="rtx-history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170432"/>
            <a:ext cx="10698480" cy="4680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742432"/>
            <a:ext cx="10012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Business trend is improving</a:t>
            </a:r>
          </a:p>
          <a:p>
            <a:pPr>
              <a:spcAft>
                <a:spcPts val="600"/>
              </a:spcAft>
              <a:defRPr sz="1600">
                <a:solidFill>
                  <a:srgbClr val="111111"/>
                </a:solidFill>
              </a:defRPr>
            </a:pPr>
            <a:r>
              <a:t>The problem is timing, not legitimacy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Technical and Portfolio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Why the business can be fine while the stock is still a 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1790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20D / 50D / 200D</a:t>
            </a:r>
          </a:p>
          <a:p>
            <a:r>
              <a:rPr sz="2000" b="1">
                <a:solidFill>
                  <a:srgbClr val="111111"/>
                </a:solidFill>
              </a:rPr>
              <a:t>193.9 / 199.1 / 178.1</a:t>
            </a:r>
          </a:p>
          <a:p>
            <a:r>
              <a:rPr sz="1000">
                <a:solidFill>
                  <a:srgbClr val="B94728"/>
                </a:solidFill>
              </a:rPr>
              <a:t>Price remains below all three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41732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2544" y="151790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Support / resistance</a:t>
            </a:r>
          </a:p>
          <a:p>
            <a:r>
              <a:rPr sz="2000" b="1">
                <a:solidFill>
                  <a:srgbClr val="111111"/>
                </a:solidFill>
              </a:rPr>
              <a:t>174.3 / 203.5</a:t>
            </a:r>
          </a:p>
          <a:p>
            <a:r>
              <a:rPr sz="1000">
                <a:solidFill>
                  <a:srgbClr val="B94728"/>
                </a:solidFill>
              </a:rPr>
              <a:t>Recent range still weak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2944" y="141732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7536" y="151790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Action</a:t>
            </a:r>
          </a:p>
          <a:p>
            <a:r>
              <a:rPr sz="2000" b="1">
                <a:solidFill>
                  <a:srgbClr val="111111"/>
                </a:solidFill>
              </a:rPr>
              <a:t>Bench / no action</a:t>
            </a:r>
          </a:p>
          <a:p>
            <a:r>
              <a:rPr sz="1000">
                <a:solidFill>
                  <a:srgbClr val="B94728"/>
                </a:solidFill>
              </a:rPr>
              <a:t>Wait for technical repair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Below 20D, 50D, and 200D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That is weak posture, not constructive posture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Good guidance does not override bad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15468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Upgrade only after support repair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Then reclaim moving averages</a:t>
            </a:r>
          </a:p>
          <a:p>
            <a:pPr>
              <a:spcAft>
                <a:spcPts val="600"/>
              </a:spcAft>
              <a:defRPr sz="1800">
                <a:solidFill>
                  <a:srgbClr val="111111"/>
                </a:solidFill>
              </a:defRPr>
            </a:pPr>
            <a:r>
              <a:t>Then define entry and invalidation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What can still go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389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Execution risk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Supply-chain and program risk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Chart weakness can trap capital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Analyst upside can stay theoretical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00200"/>
            <a:ext cx="4343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Defense theme does not guarantee entry quality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Post-earnings tape still needs repair</a:t>
            </a:r>
          </a:p>
          <a:p>
            <a:pPr>
              <a:spcAft>
                <a:spcPts val="600"/>
              </a:spcAft>
              <a:defRPr sz="1900">
                <a:solidFill>
                  <a:srgbClr val="111111"/>
                </a:solidFill>
              </a:defRPr>
            </a:pPr>
            <a:r>
              <a:t>Better setups elsewhere raise opportunity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Decision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F3F3F"/>
                </a:solidFill>
              </a:rPr>
              <a:t>Bottom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6362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Verdict</a:t>
            </a:r>
          </a:p>
          <a:p>
            <a:r>
              <a:rPr sz="2000" b="1">
                <a:solidFill>
                  <a:srgbClr val="111111"/>
                </a:solidFill>
              </a:rPr>
              <a:t>Bench</a:t>
            </a:r>
          </a:p>
          <a:p>
            <a:r>
              <a:rPr sz="1000">
                <a:solidFill>
                  <a:srgbClr val="B94728"/>
                </a:solidFill>
              </a:rPr>
              <a:t>Not a force-buy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46304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2544" y="156362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Upgrade trigger</a:t>
            </a:r>
          </a:p>
          <a:p>
            <a:r>
              <a:rPr sz="2000" b="1">
                <a:solidFill>
                  <a:srgbClr val="111111"/>
                </a:solidFill>
              </a:rPr>
              <a:t>Repair + reclaim</a:t>
            </a:r>
          </a:p>
          <a:p>
            <a:r>
              <a:rPr sz="1000">
                <a:solidFill>
                  <a:srgbClr val="0D8A53"/>
                </a:solidFill>
              </a:rPr>
              <a:t>Support base plus MA improvement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2944" y="1463040"/>
            <a:ext cx="3154680" cy="1325880"/>
          </a:xfrm>
          <a:prstGeom prst="roundRect">
            <a:avLst/>
          </a:prstGeom>
          <a:solidFill>
            <a:srgbClr val="EDE7DA"/>
          </a:solidFill>
          <a:ln>
            <a:solidFill>
              <a:srgbClr val="ED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7536" y="1563624"/>
            <a:ext cx="286207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111"/>
                </a:solidFill>
              </a:rPr>
              <a:t>Downgrade trigger</a:t>
            </a:r>
          </a:p>
          <a:p>
            <a:r>
              <a:rPr sz="2000" b="1">
                <a:solidFill>
                  <a:srgbClr val="111111"/>
                </a:solidFill>
              </a:rPr>
              <a:t>Fresh breakdown</a:t>
            </a:r>
          </a:p>
          <a:p>
            <a:r>
              <a:rPr sz="1000">
                <a:solidFill>
                  <a:srgbClr val="B94728"/>
                </a:solidFill>
              </a:rPr>
              <a:t>Continued weakness below recent 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160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Credible company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Supportive quarter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Weak chart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Correct posture: patience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584448"/>
            <a:ext cx="39776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Do not force capital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Wait for technical repair</a:t>
            </a:r>
          </a:p>
          <a:p>
            <a:pPr>
              <a:spcAft>
                <a:spcPts val="600"/>
              </a:spcAft>
              <a:defRPr sz="2000">
                <a:solidFill>
                  <a:srgbClr val="111111"/>
                </a:solidFill>
              </a:defRPr>
            </a:pPr>
            <a:r>
              <a:t>Use price, not persuasion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