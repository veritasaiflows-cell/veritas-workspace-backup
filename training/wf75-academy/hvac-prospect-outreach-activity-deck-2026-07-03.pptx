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HVAC Prospect Outreach Training</a:t>
            </a:r>
          </a:p>
          <a:p>
            <a:r>
              <a:rPr sz="1300">
                <a:solidFill>
                  <a:srgbClr val="0F766E"/>
                </a:solidFill>
              </a:rPr>
              <a:t>WF75 Academy / internal training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530352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Status</a:t>
            </a:r>
          </a:p>
          <a:p>
            <a:r>
              <a:rPr sz="1200">
                <a:solidFill>
                  <a:srgbClr val="1F2937"/>
                </a:solidFill>
              </a:rPr>
              <a:t>Full-stack training: PDF, HTML, interactive simulation, book, deck, manifest.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371600"/>
            <a:ext cx="5303520" cy="13716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Hard boundary</a:t>
            </a:r>
          </a:p>
          <a:p>
            <a:r>
              <a:rPr sz="1200">
                <a:solidFill>
                  <a:srgbClr val="1F2937"/>
                </a:solidFill>
              </a:rPr>
              <a:t>No outreach, calls, SMS, CRM import, payments, customer data, credentials, or owner approval inference.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108960"/>
            <a:ext cx="1088136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Offer</a:t>
            </a:r>
          </a:p>
          <a:p>
            <a:r>
              <a:rPr sz="1200">
                <a:solidFill>
                  <a:srgbClr val="1F2937"/>
                </a:solidFill>
              </a:rPr>
              <a:t>A fixed-scope 5-day review of one intake or callback workflow. It returns a practical map and improvement checklist without system access, customer data, production changes, or outcome guarantees.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First Batch Under Review</a:t>
            </a:r>
          </a:p>
          <a:p>
            <a:r>
              <a:rPr sz="1300">
                <a:solidFill>
                  <a:srgbClr val="0F766E"/>
                </a:solidFill>
              </a:rPr>
              <a:t>Manual official-site contact only if Randall approves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521208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1. Olive Air &amp; Heating</a:t>
            </a:r>
          </a:p>
          <a:p>
            <a:r>
              <a:rPr sz="1200">
                <a:solidFill>
                  <a:srgbClr val="1F2937"/>
                </a:solidFill>
              </a:rPr>
              <a:t>Possible fit for an intake-speed and callback-handoff review because the public site leans hard into instant scheduling, live availability, and emergency responsiveness.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0" y="1188720"/>
            <a:ext cx="521208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2. Instant Heating and Air</a:t>
            </a:r>
          </a:p>
          <a:p>
            <a:r>
              <a:rPr sz="1200">
                <a:solidFill>
                  <a:srgbClr val="1F2937"/>
                </a:solidFill>
              </a:rPr>
              <a:t>Possible fit for reviewing emergency-call handling and estimate handoff because the site advertises immediate booking, instant estimates, and 24/7 response.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06040"/>
            <a:ext cx="521208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3. Frozen Cactus Air</a:t>
            </a:r>
          </a:p>
          <a:p>
            <a:r>
              <a:rPr sz="1200">
                <a:solidFill>
                  <a:srgbClr val="1F2937"/>
                </a:solidFill>
              </a:rPr>
              <a:t>Possible fit for reviewing emergency-intake and direct-tech callback workflows because the company promotes same-day service, multi-city coverage, and direct technician contact.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606040"/>
            <a:ext cx="521208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5. Cold Stinger Heating &amp; Air Conditioning</a:t>
            </a:r>
          </a:p>
          <a:p>
            <a:r>
              <a:rPr sz="1200">
                <a:solidFill>
                  <a:srgbClr val="1F2937"/>
                </a:solidFill>
              </a:rPr>
              <a:t>Possible fit for a missed-call and follow-up review because the site openly promotes emergency response, maintenance-plan volume, and pricing-related self-serve 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521208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6. Norris Air</a:t>
            </a:r>
          </a:p>
          <a:p>
            <a:r>
              <a:rPr sz="1200">
                <a:solidFill>
                  <a:srgbClr val="1F2937"/>
                </a:solidFill>
              </a:rPr>
              <a:t>Possible fit for a workflow review around modern-system service intake and owner-visible follow-up because the public site pairs older local tenure with newer-system positioning.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1: Locate The Truth Surface</a:t>
            </a:r>
          </a:p>
          <a:p>
            <a:r>
              <a:rPr sz="1300">
                <a:solidFill>
                  <a:srgbClr val="0F766E"/>
                </a:solidFill>
              </a:rPr>
              <a:t>foundation /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Randall asks where the current outreach packet is and what it authorizes.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Answer in 60 seconds. Name the packet location and authority boundary.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The packet is in 10. Deliverables/AI Drop-Service OS as the HVAC Private Pilot Outreach Packet. It prepares outreach but does not authorize sending. Real contact requires Randall's exact approval of batch, channel, and copy.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QA cleared it for sending
- cannot name file family
- omits owner-gated boundary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2: Explain The Offer Without Hype</a:t>
            </a:r>
          </a:p>
          <a:p>
            <a:r>
              <a:rPr sz="1300">
                <a:solidFill>
                  <a:srgbClr val="0F766E"/>
                </a:solidFill>
              </a:rPr>
              <a:t>foundation / offer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A friend asks what Randall is selling.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Explain the AI Workflow Clarity Sprint in plain English.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It is a 5-day review of one workflow, starting with HVAC missed-call recovery or callback handoffs. The output is a practical map and improvement checklist. It is not a software install, revenue guarantee, credential request, or customer-data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AI will automate everything
- promises more bookings
- implementation included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3: Pick The Safe Outreach Angle</a:t>
            </a:r>
          </a:p>
          <a:p>
            <a:r>
              <a:rPr sz="1300">
                <a:solidFill>
                  <a:srgbClr val="0F766E"/>
                </a:solidFill>
              </a:rPr>
              <a:t>foundation / copy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A prospect's public site emphasizes online booking, fast response, and emergency service.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Write one safe outreach angle.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Possible fit for a workflow review because the public site emphasizes response speed and scheduling, which may make intake clarity and callback handoffs worth reviewing.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they are losing leads
- their workflow is broken
- they need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4: Repair Unsafe Copy</a:t>
            </a:r>
          </a:p>
          <a:p>
            <a:r>
              <a:rPr sz="1300">
                <a:solidFill>
                  <a:srgbClr val="0F766E"/>
                </a:solidFill>
              </a:rPr>
              <a:t>core / copy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Unsafe draft: Your HVAC company is probably losing calls and revenue. Our AI can recover those missed opportunities.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Rewrite it safely.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I noticed your public site emphasizes fast HVAC service and scheduling. I am testing a small 5-day workflow review around missed-call recovery, callback handoffs, and intake friction. It is a diagnostic review, not a promise of more bookings or revenue.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keeps revenue claim
- keeps accusation
- keeps AI can recover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5: Channel Boundary</a:t>
            </a:r>
          </a:p>
          <a:p>
            <a:r>
              <a:rPr sz="1300">
                <a:solidFill>
                  <a:srgbClr val="0F766E"/>
                </a:solidFill>
              </a:rPr>
              <a:t>core /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Randall says: Let's call all 20 tomorrow.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Respond with the correct boundary.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Do not call all 20. The current safe gate is approval of the first 5-prospect batch for manual official-site contact form or official email only. Phone outreach needs separate approval and official-site phone-path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phone approved
- 20 is fine
- bulk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6: Prospect Replies: Send Details</a:t>
            </a:r>
          </a:p>
          <a:p>
            <a:r>
              <a:rPr sz="1300">
                <a:solidFill>
                  <a:srgbClr val="0F766E"/>
                </a:solidFill>
              </a:rPr>
              <a:t>core / reply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After approved outreach, a prospect replies: Sure, send details.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Draft a safe reply.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Thanks. I can send the one-page scope. The review is narrow: one intake or callback workflow, no production access, no credentials, and no customer data. The goal is a practical workflow map and improvement checklist. If that sounds aligned, a 15-minute call can confirm 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sends payment link
- requests CRM access
- offers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7: Prospect Offers Call Recordings</a:t>
            </a:r>
          </a:p>
          <a:p>
            <a:r>
              <a:rPr sz="1300">
                <a:solidFill>
                  <a:srgbClr val="0F766E"/>
                </a:solidFill>
              </a:rPr>
              <a:t>core /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Prospect says they can send call recordings and customer texts.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Respond safely.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Not for this first review. Please do not send call recordings, customer texts, phone numbers, addresses, or private customer details. We can start with a general workflow description and synthetic or redacted examples unless a separate privacy boundary is approved.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accepts recordings
- asks for transcripts
- uploads customer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8: Discovery Call Opening</a:t>
            </a:r>
          </a:p>
          <a:p>
            <a:r>
              <a:rPr sz="1300">
                <a:solidFill>
                  <a:srgbClr val="0F766E"/>
                </a:solidFill>
              </a:rPr>
              <a:t>core /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You are opening a 15-minute discovery call with an HVAC owner.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Give the first 30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Thanks for taking the time. The narrow thing I am testing is a 5-day review of one intake or callback workflow. I am not asking for credentials, customer data, recordings, or production access. Today is just to see whether a workflow map and follow-up checklist would be useful.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starts selling tools
- asks for login
- opens with ROI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9: Objection: We Already Use ServiceTitan</a:t>
            </a:r>
          </a:p>
          <a:p>
            <a:r>
              <a:rPr sz="1300">
                <a:solidFill>
                  <a:srgbClr val="0F766E"/>
                </a:solidFill>
              </a:rPr>
              <a:t>advanced / objection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Prospect says they already use ServiceTitan.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Respond without criticizing their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That may be fine. This Sprint is not a replacement for ServiceTitan. It looks at the human workflow around missed calls, callbacks, and handoff status. If that is already clean, the Sprint is probably not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attacks ServiceTitan
- claims AI improves it
- pushes implementation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10: Objection: How Much Revenue Will This Add?</a:t>
            </a:r>
          </a:p>
          <a:p>
            <a:r>
              <a:rPr sz="1300">
                <a:solidFill>
                  <a:srgbClr val="0F766E"/>
                </a:solidFill>
              </a:rPr>
              <a:t>advanced / objection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Prospect asks how much revenue this will add.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Answer safely.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I cannot promise revenue or booked-job lift. The first Sprint is a diagnostic. It clarifies where follow-up, ownership, or handoff status may be unclear. Any later measurement must be defined separately and treated as evidence, not a guarantee.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gives a percentage
- says it pays for itself
- guaranteed ROI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11: Qualification Decision</a:t>
            </a:r>
          </a:p>
          <a:p>
            <a:r>
              <a:rPr sz="1300">
                <a:solidFill>
                  <a:srgbClr val="0F766E"/>
                </a:solidFill>
              </a:rPr>
              <a:t>advanced / qualification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A prospect wants text automation, missed-call auto-replies, and after-hours emergency triage.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Classify the prospect.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Interested but out of first-scope. Text automation and emergency triage require separate approval, compliance review, consent and opt-out handling, and implementation scope. The first Sprint can map the workflow but cannot send texts or handle emergency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accepts text automation
- includes emergency triage
- skips compliance boundary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937"/>
                </a:solidFill>
              </a:rPr>
              <a:t>Simulation 12: Build The Approval Card</a:t>
            </a:r>
          </a:p>
          <a:p>
            <a:r>
              <a:rPr sz="1300">
                <a:solidFill>
                  <a:srgbClr val="0F766E"/>
                </a:solidFill>
              </a:rPr>
              <a:t>advanced / approval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Scenario</a:t>
            </a:r>
          </a:p>
          <a:p>
            <a:r>
              <a:rPr sz="1200">
                <a:solidFill>
                  <a:srgbClr val="1F2937"/>
                </a:solidFill>
              </a:rPr>
              <a:t>Randall wants to proceed with the first batch.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46888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Task</a:t>
            </a:r>
          </a:p>
          <a:p>
            <a:r>
              <a:rPr sz="1200">
                <a:solidFill>
                  <a:srgbClr val="1F2937"/>
                </a:solidFill>
              </a:rPr>
              <a:t>Fill the minimum approval fields.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Expected</a:t>
            </a:r>
          </a:p>
          <a:p>
            <a:r>
              <a:rPr sz="1200">
                <a:solidFill>
                  <a:srgbClr val="1F2937"/>
                </a:solidFill>
              </a:rPr>
              <a:t>Decision: approve manual first-batch outreach. Batch: Olive Air, Instant Heating and Air, Frozen Cactus, Cold Stinger, Norris Air. Channel: official-site contact form or official website email only. Copy: approved initial email and one follow-up. Not approved: phone, SMS, bulk send, CRM import, payment link, customer data, credentials, production access, and ROI/revenue/booking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525780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2937"/>
                </a:solidFill>
              </a:rPr>
              <a:t>Fail triggers</a:t>
            </a:r>
          </a:p>
          <a:p>
            <a:r>
              <a:rPr sz="1200">
                <a:solidFill>
                  <a:srgbClr val="1F2937"/>
                </a:solidFill>
              </a:rPr>
              <a:t>- approval already granted
- omits channel
- omits stop 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