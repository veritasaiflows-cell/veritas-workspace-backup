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731520"/>
          </a:xfrm>
          <a:prstGeom prst="rect">
            <a:avLst/>
          </a:prstGeom>
          <a:noFill/>
        </p:spPr>
        <p:txBody>
          <a:bodyPr wrap="none">
            <a:spAutoFit/>
          </a:bodyPr>
          <a:lstStyle/>
          <a:p>
            <a:r>
              <a:rPr sz="3000" b="1">
                <a:solidFill>
                  <a:srgbClr val="162033"/>
                </a:solidFill>
              </a:rPr>
              <a:t>WF75 Academy Activity Deck</a:t>
            </a:r>
          </a:p>
        </p:txBody>
      </p:sp>
      <p:sp>
        <p:nvSpPr>
          <p:cNvPr id="3" name="TextBox 2"/>
          <p:cNvSpPr txBox="1"/>
          <p:nvPr/>
        </p:nvSpPr>
        <p:spPr>
          <a:xfrm>
            <a:off x="658368" y="1042415"/>
            <a:ext cx="10424160" cy="384048"/>
          </a:xfrm>
          <a:prstGeom prst="rect">
            <a:avLst/>
          </a:prstGeom>
          <a:noFill/>
        </p:spPr>
        <p:txBody>
          <a:bodyPr wrap="none">
            <a:spAutoFit/>
          </a:bodyPr>
          <a:lstStyle/>
          <a:p>
            <a:r>
              <a:rPr sz="1400">
                <a:solidFill>
                  <a:srgbClr val="58697D"/>
                </a:solidFill>
              </a:rPr>
              <a:t>Internal training / fake-scenario practice only</a:t>
            </a:r>
          </a:p>
        </p:txBody>
      </p:sp>
      <p:sp>
        <p:nvSpPr>
          <p:cNvPr id="4" name="Rounded Rectangle 3"/>
          <p:cNvSpPr/>
          <p:nvPr/>
        </p:nvSpPr>
        <p:spPr>
          <a:xfrm>
            <a:off x="731520" y="1645920"/>
            <a:ext cx="5212080" cy="146304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773936"/>
            <a:ext cx="4882896" cy="1207008"/>
          </a:xfrm>
          <a:prstGeom prst="rect">
            <a:avLst/>
          </a:prstGeom>
          <a:noFill/>
        </p:spPr>
        <p:txBody>
          <a:bodyPr wrap="square">
            <a:spAutoFit/>
          </a:bodyPr>
          <a:lstStyle/>
          <a:p>
            <a:r>
              <a:rPr sz="1700" b="1">
                <a:solidFill>
                  <a:srgbClr val="12345C"/>
                </a:solidFill>
              </a:rPr>
              <a:t>Goal</a:t>
            </a:r>
          </a:p>
          <a:p>
            <a:r>
              <a:rPr sz="1400">
                <a:solidFill>
                  <a:srgbClr val="162033"/>
                </a:solidFill>
              </a:rPr>
              <a:t>Randall can explain the service, diagnose one workflow, understand basic Zapier/Make patterns, and QA a packet without crossing stop lines.</a:t>
            </a:r>
          </a:p>
        </p:txBody>
      </p:sp>
      <p:sp>
        <p:nvSpPr>
          <p:cNvPr id="6" name="Rounded Rectangle 5"/>
          <p:cNvSpPr/>
          <p:nvPr/>
        </p:nvSpPr>
        <p:spPr>
          <a:xfrm>
            <a:off x="6217920" y="1645920"/>
            <a:ext cx="4937760" cy="146304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82512" y="1773936"/>
            <a:ext cx="4608576" cy="1207008"/>
          </a:xfrm>
          <a:prstGeom prst="rect">
            <a:avLst/>
          </a:prstGeom>
          <a:noFill/>
        </p:spPr>
        <p:txBody>
          <a:bodyPr wrap="square">
            <a:spAutoFit/>
          </a:bodyPr>
          <a:lstStyle/>
          <a:p>
            <a:r>
              <a:rPr sz="1700" b="1">
                <a:solidFill>
                  <a:srgbClr val="12345C"/>
                </a:solidFill>
              </a:rPr>
              <a:t>Cadence</a:t>
            </a:r>
          </a:p>
          <a:p>
            <a:r>
              <a:rPr sz="1400">
                <a:solidFill>
                  <a:srgbClr val="162033"/>
                </a:solidFill>
              </a:rPr>
              <a:t>Daily: 20-30 minutes
Weekly review: 45-60 minutes</a:t>
            </a:r>
          </a:p>
        </p:txBody>
      </p:sp>
      <p:sp>
        <p:nvSpPr>
          <p:cNvPr id="8" name="Rounded Rectangle 7"/>
          <p:cNvSpPr/>
          <p:nvPr/>
        </p:nvSpPr>
        <p:spPr>
          <a:xfrm>
            <a:off x="731520" y="3657600"/>
            <a:ext cx="10424160" cy="123444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785615"/>
            <a:ext cx="10094976" cy="978408"/>
          </a:xfrm>
          <a:prstGeom prst="rect">
            <a:avLst/>
          </a:prstGeom>
          <a:noFill/>
        </p:spPr>
        <p:txBody>
          <a:bodyPr wrap="square">
            <a:spAutoFit/>
          </a:bodyPr>
          <a:lstStyle/>
          <a:p>
            <a:r>
              <a:rPr sz="1700" b="1">
                <a:solidFill>
                  <a:srgbClr val="12345C"/>
                </a:solidFill>
              </a:rPr>
              <a:t>Stop line</a:t>
            </a:r>
          </a:p>
          <a:p>
            <a:r>
              <a:rPr sz="1400">
                <a:solidFill>
                  <a:srgbClr val="162033"/>
                </a:solidFill>
              </a:rPr>
              <a:t>No real customer data, outreach, credentials, implementation, external delivery, spending, public launch, or ROI/compliance claims.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731520"/>
          </a:xfrm>
          <a:prstGeom prst="rect">
            <a:avLst/>
          </a:prstGeom>
          <a:noFill/>
        </p:spPr>
        <p:txBody>
          <a:bodyPr wrap="none">
            <a:spAutoFit/>
          </a:bodyPr>
          <a:lstStyle/>
          <a:p>
            <a:r>
              <a:rPr sz="3000" b="1">
                <a:solidFill>
                  <a:srgbClr val="162033"/>
                </a:solidFill>
              </a:rPr>
              <a:t>Day 1: SMB Service-Led Offer Basics</a:t>
            </a:r>
          </a:p>
        </p:txBody>
      </p:sp>
      <p:sp>
        <p:nvSpPr>
          <p:cNvPr id="3" name="TextBox 2"/>
          <p:cNvSpPr txBox="1"/>
          <p:nvPr/>
        </p:nvSpPr>
        <p:spPr>
          <a:xfrm>
            <a:off x="658368" y="1042415"/>
            <a:ext cx="10424160" cy="384048"/>
          </a:xfrm>
          <a:prstGeom prst="rect">
            <a:avLst/>
          </a:prstGeom>
          <a:noFill/>
        </p:spPr>
        <p:txBody>
          <a:bodyPr wrap="none">
            <a:spAutoFit/>
          </a:bodyPr>
          <a:lstStyle/>
          <a:p>
            <a:r>
              <a:rPr sz="1400">
                <a:solidFill>
                  <a:srgbClr val="58697D"/>
                </a:solidFill>
              </a:rPr>
              <a:t>20 minutes</a:t>
            </a:r>
          </a:p>
        </p:txBody>
      </p:sp>
      <p:sp>
        <p:nvSpPr>
          <p:cNvPr id="4" name="Rounded Rectangle 3"/>
          <p:cNvSpPr/>
          <p:nvPr/>
        </p:nvSpPr>
        <p:spPr>
          <a:xfrm>
            <a:off x="685800" y="1417320"/>
            <a:ext cx="3474720" cy="132588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 y="1545336"/>
            <a:ext cx="3145536" cy="1069848"/>
          </a:xfrm>
          <a:prstGeom prst="rect">
            <a:avLst/>
          </a:prstGeom>
          <a:noFill/>
        </p:spPr>
        <p:txBody>
          <a:bodyPr wrap="square">
            <a:spAutoFit/>
          </a:bodyPr>
          <a:lstStyle/>
          <a:p>
            <a:r>
              <a:rPr sz="1700" b="1">
                <a:solidFill>
                  <a:srgbClr val="12345C"/>
                </a:solidFill>
              </a:rPr>
              <a:t>Scenario</a:t>
            </a:r>
          </a:p>
          <a:p>
            <a:r>
              <a:rPr sz="1400">
                <a:solidFill>
                  <a:srgbClr val="162033"/>
                </a:solidFill>
              </a:rPr>
              <a:t>Desert Peak HVAC lead follow-up packet</a:t>
            </a:r>
          </a:p>
        </p:txBody>
      </p:sp>
      <p:sp>
        <p:nvSpPr>
          <p:cNvPr id="6" name="Rounded Rectangle 5"/>
          <p:cNvSpPr/>
          <p:nvPr/>
        </p:nvSpPr>
        <p:spPr>
          <a:xfrm>
            <a:off x="4343400" y="1417320"/>
            <a:ext cx="3474720" cy="132588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07992" y="1545336"/>
            <a:ext cx="3145536" cy="1069848"/>
          </a:xfrm>
          <a:prstGeom prst="rect">
            <a:avLst/>
          </a:prstGeom>
          <a:noFill/>
        </p:spPr>
        <p:txBody>
          <a:bodyPr wrap="square">
            <a:spAutoFit/>
          </a:bodyPr>
          <a:lstStyle/>
          <a:p>
            <a:r>
              <a:rPr sz="1700" b="1">
                <a:solidFill>
                  <a:srgbClr val="12345C"/>
                </a:solidFill>
              </a:rPr>
              <a:t>Activity</a:t>
            </a:r>
          </a:p>
          <a:p>
            <a:r>
              <a:rPr sz="1400">
                <a:solidFill>
                  <a:srgbClr val="162033"/>
                </a:solidFill>
              </a:rPr>
              <a:t>Explain the offer in 90 seconds without saying implementation, guaranteed revenue, or AI magic.</a:t>
            </a:r>
          </a:p>
        </p:txBody>
      </p:sp>
      <p:sp>
        <p:nvSpPr>
          <p:cNvPr id="8" name="Rounded Rectangle 7"/>
          <p:cNvSpPr/>
          <p:nvPr/>
        </p:nvSpPr>
        <p:spPr>
          <a:xfrm>
            <a:off x="8001000" y="1417320"/>
            <a:ext cx="3474720" cy="132588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65592" y="1545336"/>
            <a:ext cx="3145536" cy="1069848"/>
          </a:xfrm>
          <a:prstGeom prst="rect">
            <a:avLst/>
          </a:prstGeom>
          <a:noFill/>
        </p:spPr>
        <p:txBody>
          <a:bodyPr wrap="square">
            <a:spAutoFit/>
          </a:bodyPr>
          <a:lstStyle/>
          <a:p>
            <a:r>
              <a:rPr sz="1700" b="1">
                <a:solidFill>
                  <a:srgbClr val="12345C"/>
                </a:solidFill>
              </a:rPr>
              <a:t>Explain-back</a:t>
            </a:r>
          </a:p>
          <a:p>
            <a:r>
              <a:rPr sz="1400">
                <a:solidFill>
                  <a:srgbClr val="162033"/>
                </a:solidFill>
              </a:rPr>
              <a:t>Randall states the workflow, bottleneck, next action, and stop line in plain English.</a:t>
            </a:r>
          </a:p>
        </p:txBody>
      </p:sp>
      <p:sp>
        <p:nvSpPr>
          <p:cNvPr id="10" name="Rounded Rectangle 9"/>
          <p:cNvSpPr/>
          <p:nvPr/>
        </p:nvSpPr>
        <p:spPr>
          <a:xfrm>
            <a:off x="685800" y="3154680"/>
            <a:ext cx="5212080" cy="192024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 y="3282696"/>
            <a:ext cx="4882896" cy="1664208"/>
          </a:xfrm>
          <a:prstGeom prst="rect">
            <a:avLst/>
          </a:prstGeom>
          <a:noFill/>
        </p:spPr>
        <p:txBody>
          <a:bodyPr wrap="square">
            <a:spAutoFit/>
          </a:bodyPr>
          <a:lstStyle/>
          <a:p>
            <a:r>
              <a:rPr sz="1700" b="1">
                <a:solidFill>
                  <a:srgbClr val="12345C"/>
                </a:solidFill>
              </a:rPr>
              <a:t>Learning points</a:t>
            </a:r>
          </a:p>
          <a:p>
            <a:r>
              <a:rPr sz="1400">
                <a:solidFill>
                  <a:srgbClr val="162033"/>
                </a:solidFill>
              </a:rPr>
              <a:t>- what the Lead Rescue / Workflow Clarity Sprint is
- what it is not
- why manual packets come before full SaaS</a:t>
            </a:r>
          </a:p>
        </p:txBody>
      </p:sp>
      <p:sp>
        <p:nvSpPr>
          <p:cNvPr id="12" name="Rounded Rectangle 11"/>
          <p:cNvSpPr/>
          <p:nvPr/>
        </p:nvSpPr>
        <p:spPr>
          <a:xfrm>
            <a:off x="6172200" y="3154680"/>
            <a:ext cx="5303520" cy="192024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36792" y="3282696"/>
            <a:ext cx="4974336" cy="1664208"/>
          </a:xfrm>
          <a:prstGeom prst="rect">
            <a:avLst/>
          </a:prstGeom>
          <a:noFill/>
        </p:spPr>
        <p:txBody>
          <a:bodyPr wrap="square">
            <a:spAutoFit/>
          </a:bodyPr>
          <a:lstStyle/>
          <a:p>
            <a:r>
              <a:rPr sz="1700" b="1">
                <a:solidFill>
                  <a:srgbClr val="12345C"/>
                </a:solidFill>
              </a:rPr>
              <a:t>Acceptance</a:t>
            </a:r>
          </a:p>
          <a:p>
            <a:r>
              <a:rPr sz="1400">
                <a:solidFill>
                  <a:srgbClr val="162033"/>
                </a:solidFill>
              </a:rPr>
              <a:t>Randall can state scope, exclusions, and next step clearly.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731520"/>
          </a:xfrm>
          <a:prstGeom prst="rect">
            <a:avLst/>
          </a:prstGeom>
          <a:noFill/>
        </p:spPr>
        <p:txBody>
          <a:bodyPr wrap="none">
            <a:spAutoFit/>
          </a:bodyPr>
          <a:lstStyle/>
          <a:p>
            <a:r>
              <a:rPr sz="3000" b="1">
                <a:solidFill>
                  <a:srgbClr val="162033"/>
                </a:solidFill>
              </a:rPr>
              <a:t>Day 2: Workflow Diagnosis: Trigger To Outcome</a:t>
            </a:r>
          </a:p>
        </p:txBody>
      </p:sp>
      <p:sp>
        <p:nvSpPr>
          <p:cNvPr id="3" name="TextBox 2"/>
          <p:cNvSpPr txBox="1"/>
          <p:nvPr/>
        </p:nvSpPr>
        <p:spPr>
          <a:xfrm>
            <a:off x="658368" y="1042415"/>
            <a:ext cx="10424160" cy="384048"/>
          </a:xfrm>
          <a:prstGeom prst="rect">
            <a:avLst/>
          </a:prstGeom>
          <a:noFill/>
        </p:spPr>
        <p:txBody>
          <a:bodyPr wrap="none">
            <a:spAutoFit/>
          </a:bodyPr>
          <a:lstStyle/>
          <a:p>
            <a:r>
              <a:rPr sz="1400">
                <a:solidFill>
                  <a:srgbClr val="58697D"/>
                </a:solidFill>
              </a:rPr>
              <a:t>25 minutes</a:t>
            </a:r>
          </a:p>
        </p:txBody>
      </p:sp>
      <p:sp>
        <p:nvSpPr>
          <p:cNvPr id="4" name="Rounded Rectangle 3"/>
          <p:cNvSpPr/>
          <p:nvPr/>
        </p:nvSpPr>
        <p:spPr>
          <a:xfrm>
            <a:off x="685800" y="1417320"/>
            <a:ext cx="3474720" cy="132588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 y="1545336"/>
            <a:ext cx="3145536" cy="1069848"/>
          </a:xfrm>
          <a:prstGeom prst="rect">
            <a:avLst/>
          </a:prstGeom>
          <a:noFill/>
        </p:spPr>
        <p:txBody>
          <a:bodyPr wrap="square">
            <a:spAutoFit/>
          </a:bodyPr>
          <a:lstStyle/>
          <a:p>
            <a:r>
              <a:rPr sz="1700" b="1">
                <a:solidFill>
                  <a:srgbClr val="12345C"/>
                </a:solidFill>
              </a:rPr>
              <a:t>Scenario</a:t>
            </a:r>
          </a:p>
          <a:p>
            <a:r>
              <a:rPr sz="1400">
                <a:solidFill>
                  <a:srgbClr val="162033"/>
                </a:solidFill>
              </a:rPr>
              <a:t>small contractor job-control packet</a:t>
            </a:r>
          </a:p>
        </p:txBody>
      </p:sp>
      <p:sp>
        <p:nvSpPr>
          <p:cNvPr id="6" name="Rounded Rectangle 5"/>
          <p:cNvSpPr/>
          <p:nvPr/>
        </p:nvSpPr>
        <p:spPr>
          <a:xfrm>
            <a:off x="4343400" y="1417320"/>
            <a:ext cx="3474720" cy="132588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07992" y="1545336"/>
            <a:ext cx="3145536" cy="1069848"/>
          </a:xfrm>
          <a:prstGeom prst="rect">
            <a:avLst/>
          </a:prstGeom>
          <a:noFill/>
        </p:spPr>
        <p:txBody>
          <a:bodyPr wrap="square">
            <a:spAutoFit/>
          </a:bodyPr>
          <a:lstStyle/>
          <a:p>
            <a:r>
              <a:rPr sz="1700" b="1">
                <a:solidFill>
                  <a:srgbClr val="12345C"/>
                </a:solidFill>
              </a:rPr>
              <a:t>Activity</a:t>
            </a:r>
          </a:p>
          <a:p>
            <a:r>
              <a:rPr sz="1400">
                <a:solidFill>
                  <a:srgbClr val="162033"/>
                </a:solidFill>
              </a:rPr>
              <a:t>Map one fake contractor admin workflow from first customer request to invoice.</a:t>
            </a:r>
          </a:p>
        </p:txBody>
      </p:sp>
      <p:sp>
        <p:nvSpPr>
          <p:cNvPr id="8" name="Rounded Rectangle 7"/>
          <p:cNvSpPr/>
          <p:nvPr/>
        </p:nvSpPr>
        <p:spPr>
          <a:xfrm>
            <a:off x="8001000" y="1417320"/>
            <a:ext cx="3474720" cy="132588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65592" y="1545336"/>
            <a:ext cx="3145536" cy="1069848"/>
          </a:xfrm>
          <a:prstGeom prst="rect">
            <a:avLst/>
          </a:prstGeom>
          <a:noFill/>
        </p:spPr>
        <p:txBody>
          <a:bodyPr wrap="square">
            <a:spAutoFit/>
          </a:bodyPr>
          <a:lstStyle/>
          <a:p>
            <a:r>
              <a:rPr sz="1700" b="1">
                <a:solidFill>
                  <a:srgbClr val="12345C"/>
                </a:solidFill>
              </a:rPr>
              <a:t>Explain-back</a:t>
            </a:r>
          </a:p>
          <a:p>
            <a:r>
              <a:rPr sz="1400">
                <a:solidFill>
                  <a:srgbClr val="162033"/>
                </a:solidFill>
              </a:rPr>
              <a:t>Randall states the workflow, bottleneck, next action, and stop line in plain English.</a:t>
            </a:r>
          </a:p>
        </p:txBody>
      </p:sp>
      <p:sp>
        <p:nvSpPr>
          <p:cNvPr id="10" name="Rounded Rectangle 9"/>
          <p:cNvSpPr/>
          <p:nvPr/>
        </p:nvSpPr>
        <p:spPr>
          <a:xfrm>
            <a:off x="685800" y="3154680"/>
            <a:ext cx="5212080" cy="192024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 y="3282696"/>
            <a:ext cx="4882896" cy="1664208"/>
          </a:xfrm>
          <a:prstGeom prst="rect">
            <a:avLst/>
          </a:prstGeom>
          <a:noFill/>
        </p:spPr>
        <p:txBody>
          <a:bodyPr wrap="square">
            <a:spAutoFit/>
          </a:bodyPr>
          <a:lstStyle/>
          <a:p>
            <a:r>
              <a:rPr sz="1700" b="1">
                <a:solidFill>
                  <a:srgbClr val="12345C"/>
                </a:solidFill>
              </a:rPr>
              <a:t>Learning points</a:t>
            </a:r>
          </a:p>
          <a:p>
            <a:r>
              <a:rPr sz="1400">
                <a:solidFill>
                  <a:srgbClr val="162033"/>
                </a:solidFill>
              </a:rPr>
              <a:t>- trigger, handoff, wait state, owner, outcome
- where manual workflows break
- how to avoid recommending tools too early</a:t>
            </a:r>
          </a:p>
        </p:txBody>
      </p:sp>
      <p:sp>
        <p:nvSpPr>
          <p:cNvPr id="12" name="Rounded Rectangle 11"/>
          <p:cNvSpPr/>
          <p:nvPr/>
        </p:nvSpPr>
        <p:spPr>
          <a:xfrm>
            <a:off x="6172200" y="3154680"/>
            <a:ext cx="5303520" cy="192024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36792" y="3282696"/>
            <a:ext cx="4974336" cy="1664208"/>
          </a:xfrm>
          <a:prstGeom prst="rect">
            <a:avLst/>
          </a:prstGeom>
          <a:noFill/>
        </p:spPr>
        <p:txBody>
          <a:bodyPr wrap="square">
            <a:spAutoFit/>
          </a:bodyPr>
          <a:lstStyle/>
          <a:p>
            <a:r>
              <a:rPr sz="1700" b="1">
                <a:solidFill>
                  <a:srgbClr val="12345C"/>
                </a:solidFill>
              </a:rPr>
              <a:t>Acceptance</a:t>
            </a:r>
          </a:p>
          <a:p>
            <a:r>
              <a:rPr sz="1400">
                <a:solidFill>
                  <a:srgbClr val="162033"/>
                </a:solidFill>
              </a:rPr>
              <a:t>Randall can identify trigger, bottleneck, owner, and next action.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731520"/>
          </a:xfrm>
          <a:prstGeom prst="rect">
            <a:avLst/>
          </a:prstGeom>
          <a:noFill/>
        </p:spPr>
        <p:txBody>
          <a:bodyPr wrap="none">
            <a:spAutoFit/>
          </a:bodyPr>
          <a:lstStyle/>
          <a:p>
            <a:r>
              <a:rPr sz="3000" b="1">
                <a:solidFill>
                  <a:srgbClr val="162033"/>
                </a:solidFill>
              </a:rPr>
              <a:t>Day 3: Zapier Fundamentals</a:t>
            </a:r>
          </a:p>
        </p:txBody>
      </p:sp>
      <p:sp>
        <p:nvSpPr>
          <p:cNvPr id="3" name="TextBox 2"/>
          <p:cNvSpPr txBox="1"/>
          <p:nvPr/>
        </p:nvSpPr>
        <p:spPr>
          <a:xfrm>
            <a:off x="658368" y="1042415"/>
            <a:ext cx="10424160" cy="384048"/>
          </a:xfrm>
          <a:prstGeom prst="rect">
            <a:avLst/>
          </a:prstGeom>
          <a:noFill/>
        </p:spPr>
        <p:txBody>
          <a:bodyPr wrap="none">
            <a:spAutoFit/>
          </a:bodyPr>
          <a:lstStyle/>
          <a:p>
            <a:r>
              <a:rPr sz="1400">
                <a:solidFill>
                  <a:srgbClr val="58697D"/>
                </a:solidFill>
              </a:rPr>
              <a:t>25 minutes</a:t>
            </a:r>
          </a:p>
        </p:txBody>
      </p:sp>
      <p:sp>
        <p:nvSpPr>
          <p:cNvPr id="4" name="Rounded Rectangle 3"/>
          <p:cNvSpPr/>
          <p:nvPr/>
        </p:nvSpPr>
        <p:spPr>
          <a:xfrm>
            <a:off x="685800" y="1417320"/>
            <a:ext cx="3474720" cy="132588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 y="1545336"/>
            <a:ext cx="3145536" cy="1069848"/>
          </a:xfrm>
          <a:prstGeom prst="rect">
            <a:avLst/>
          </a:prstGeom>
          <a:noFill/>
        </p:spPr>
        <p:txBody>
          <a:bodyPr wrap="square">
            <a:spAutoFit/>
          </a:bodyPr>
          <a:lstStyle/>
          <a:p>
            <a:r>
              <a:rPr sz="1700" b="1">
                <a:solidFill>
                  <a:srgbClr val="12345C"/>
                </a:solidFill>
              </a:rPr>
              <a:t>Scenario</a:t>
            </a:r>
          </a:p>
          <a:p>
            <a:r>
              <a:rPr sz="1400">
                <a:solidFill>
                  <a:srgbClr val="162033"/>
                </a:solidFill>
              </a:rPr>
              <a:t>cleaning company website lead intake</a:t>
            </a:r>
          </a:p>
        </p:txBody>
      </p:sp>
      <p:sp>
        <p:nvSpPr>
          <p:cNvPr id="6" name="Rounded Rectangle 5"/>
          <p:cNvSpPr/>
          <p:nvPr/>
        </p:nvSpPr>
        <p:spPr>
          <a:xfrm>
            <a:off x="4343400" y="1417320"/>
            <a:ext cx="3474720" cy="132588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07992" y="1545336"/>
            <a:ext cx="3145536" cy="1069848"/>
          </a:xfrm>
          <a:prstGeom prst="rect">
            <a:avLst/>
          </a:prstGeom>
          <a:noFill/>
        </p:spPr>
        <p:txBody>
          <a:bodyPr wrap="square">
            <a:spAutoFit/>
          </a:bodyPr>
          <a:lstStyle/>
          <a:p>
            <a:r>
              <a:rPr sz="1700" b="1">
                <a:solidFill>
                  <a:srgbClr val="12345C"/>
                </a:solidFill>
              </a:rPr>
              <a:t>Activity</a:t>
            </a:r>
          </a:p>
          <a:p>
            <a:r>
              <a:rPr sz="1400">
                <a:solidFill>
                  <a:srgbClr val="162033"/>
                </a:solidFill>
              </a:rPr>
              <a:t>Design a fake Zap: website form -&gt; owner alert -&gt; Google Sheet row.</a:t>
            </a:r>
          </a:p>
        </p:txBody>
      </p:sp>
      <p:sp>
        <p:nvSpPr>
          <p:cNvPr id="8" name="Rounded Rectangle 7"/>
          <p:cNvSpPr/>
          <p:nvPr/>
        </p:nvSpPr>
        <p:spPr>
          <a:xfrm>
            <a:off x="8001000" y="1417320"/>
            <a:ext cx="3474720" cy="132588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65592" y="1545336"/>
            <a:ext cx="3145536" cy="1069848"/>
          </a:xfrm>
          <a:prstGeom prst="rect">
            <a:avLst/>
          </a:prstGeom>
          <a:noFill/>
        </p:spPr>
        <p:txBody>
          <a:bodyPr wrap="square">
            <a:spAutoFit/>
          </a:bodyPr>
          <a:lstStyle/>
          <a:p>
            <a:r>
              <a:rPr sz="1700" b="1">
                <a:solidFill>
                  <a:srgbClr val="12345C"/>
                </a:solidFill>
              </a:rPr>
              <a:t>Explain-back</a:t>
            </a:r>
          </a:p>
          <a:p>
            <a:r>
              <a:rPr sz="1400">
                <a:solidFill>
                  <a:srgbClr val="162033"/>
                </a:solidFill>
              </a:rPr>
              <a:t>Randall states the workflow, bottleneck, next action, and stop line in plain English.</a:t>
            </a:r>
          </a:p>
        </p:txBody>
      </p:sp>
      <p:sp>
        <p:nvSpPr>
          <p:cNvPr id="10" name="Rounded Rectangle 9"/>
          <p:cNvSpPr/>
          <p:nvPr/>
        </p:nvSpPr>
        <p:spPr>
          <a:xfrm>
            <a:off x="685800" y="3154680"/>
            <a:ext cx="5212080" cy="192024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 y="3282696"/>
            <a:ext cx="4882896" cy="1664208"/>
          </a:xfrm>
          <a:prstGeom prst="rect">
            <a:avLst/>
          </a:prstGeom>
          <a:noFill/>
        </p:spPr>
        <p:txBody>
          <a:bodyPr wrap="square">
            <a:spAutoFit/>
          </a:bodyPr>
          <a:lstStyle/>
          <a:p>
            <a:r>
              <a:rPr sz="1700" b="1">
                <a:solidFill>
                  <a:srgbClr val="12345C"/>
                </a:solidFill>
              </a:rPr>
              <a:t>Learning points</a:t>
            </a:r>
          </a:p>
          <a:p>
            <a:r>
              <a:rPr sz="1400">
                <a:solidFill>
                  <a:srgbClr val="162033"/>
                </a:solidFill>
              </a:rPr>
              <a:t>- trigger -&gt; action -&gt; filter -&gt; path -&gt; log
- when Zapier is enough
- why task volume and permissions matter</a:t>
            </a:r>
          </a:p>
        </p:txBody>
      </p:sp>
      <p:sp>
        <p:nvSpPr>
          <p:cNvPr id="12" name="Rounded Rectangle 11"/>
          <p:cNvSpPr/>
          <p:nvPr/>
        </p:nvSpPr>
        <p:spPr>
          <a:xfrm>
            <a:off x="6172200" y="3154680"/>
            <a:ext cx="5303520" cy="192024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36792" y="3282696"/>
            <a:ext cx="4974336" cy="1664208"/>
          </a:xfrm>
          <a:prstGeom prst="rect">
            <a:avLst/>
          </a:prstGeom>
          <a:noFill/>
        </p:spPr>
        <p:txBody>
          <a:bodyPr wrap="square">
            <a:spAutoFit/>
          </a:bodyPr>
          <a:lstStyle/>
          <a:p>
            <a:r>
              <a:rPr sz="1700" b="1">
                <a:solidFill>
                  <a:srgbClr val="12345C"/>
                </a:solidFill>
              </a:rPr>
              <a:t>Acceptance</a:t>
            </a:r>
          </a:p>
          <a:p>
            <a:r>
              <a:rPr sz="1400">
                <a:solidFill>
                  <a:srgbClr val="162033"/>
                </a:solidFill>
              </a:rPr>
              <a:t>Randall can explain a Zap without touching real accounts.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731520"/>
          </a:xfrm>
          <a:prstGeom prst="rect">
            <a:avLst/>
          </a:prstGeom>
          <a:noFill/>
        </p:spPr>
        <p:txBody>
          <a:bodyPr wrap="none">
            <a:spAutoFit/>
          </a:bodyPr>
          <a:lstStyle/>
          <a:p>
            <a:r>
              <a:rPr sz="3000" b="1">
                <a:solidFill>
                  <a:srgbClr val="162033"/>
                </a:solidFill>
              </a:rPr>
              <a:t>Day 4: Make Fundamentals</a:t>
            </a:r>
          </a:p>
        </p:txBody>
      </p:sp>
      <p:sp>
        <p:nvSpPr>
          <p:cNvPr id="3" name="TextBox 2"/>
          <p:cNvSpPr txBox="1"/>
          <p:nvPr/>
        </p:nvSpPr>
        <p:spPr>
          <a:xfrm>
            <a:off x="658368" y="1042415"/>
            <a:ext cx="10424160" cy="384048"/>
          </a:xfrm>
          <a:prstGeom prst="rect">
            <a:avLst/>
          </a:prstGeom>
          <a:noFill/>
        </p:spPr>
        <p:txBody>
          <a:bodyPr wrap="none">
            <a:spAutoFit/>
          </a:bodyPr>
          <a:lstStyle/>
          <a:p>
            <a:r>
              <a:rPr sz="1400">
                <a:solidFill>
                  <a:srgbClr val="58697D"/>
                </a:solidFill>
              </a:rPr>
              <a:t>25 minutes</a:t>
            </a:r>
          </a:p>
        </p:txBody>
      </p:sp>
      <p:sp>
        <p:nvSpPr>
          <p:cNvPr id="4" name="Rounded Rectangle 3"/>
          <p:cNvSpPr/>
          <p:nvPr/>
        </p:nvSpPr>
        <p:spPr>
          <a:xfrm>
            <a:off x="685800" y="1417320"/>
            <a:ext cx="3474720" cy="132588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 y="1545336"/>
            <a:ext cx="3145536" cy="1069848"/>
          </a:xfrm>
          <a:prstGeom prst="rect">
            <a:avLst/>
          </a:prstGeom>
          <a:noFill/>
        </p:spPr>
        <p:txBody>
          <a:bodyPr wrap="square">
            <a:spAutoFit/>
          </a:bodyPr>
          <a:lstStyle/>
          <a:p>
            <a:r>
              <a:rPr sz="1700" b="1">
                <a:solidFill>
                  <a:srgbClr val="12345C"/>
                </a:solidFill>
              </a:rPr>
              <a:t>Scenario</a:t>
            </a:r>
          </a:p>
          <a:p>
            <a:r>
              <a:rPr sz="1400">
                <a:solidFill>
                  <a:srgbClr val="162033"/>
                </a:solidFill>
              </a:rPr>
              <a:t>med spa inquiry routing</a:t>
            </a:r>
          </a:p>
        </p:txBody>
      </p:sp>
      <p:sp>
        <p:nvSpPr>
          <p:cNvPr id="6" name="Rounded Rectangle 5"/>
          <p:cNvSpPr/>
          <p:nvPr/>
        </p:nvSpPr>
        <p:spPr>
          <a:xfrm>
            <a:off x="4343400" y="1417320"/>
            <a:ext cx="3474720" cy="132588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07992" y="1545336"/>
            <a:ext cx="3145536" cy="1069848"/>
          </a:xfrm>
          <a:prstGeom prst="rect">
            <a:avLst/>
          </a:prstGeom>
          <a:noFill/>
        </p:spPr>
        <p:txBody>
          <a:bodyPr wrap="square">
            <a:spAutoFit/>
          </a:bodyPr>
          <a:lstStyle/>
          <a:p>
            <a:r>
              <a:rPr sz="1700" b="1">
                <a:solidFill>
                  <a:srgbClr val="12345C"/>
                </a:solidFill>
              </a:rPr>
              <a:t>Activity</a:t>
            </a:r>
          </a:p>
          <a:p>
            <a:r>
              <a:rPr sz="1400">
                <a:solidFill>
                  <a:srgbClr val="162033"/>
                </a:solidFill>
              </a:rPr>
              <a:t>Design a fake Make scenario that routes med-spa inquiries by treatment interest.</a:t>
            </a:r>
          </a:p>
        </p:txBody>
      </p:sp>
      <p:sp>
        <p:nvSpPr>
          <p:cNvPr id="8" name="Rounded Rectangle 7"/>
          <p:cNvSpPr/>
          <p:nvPr/>
        </p:nvSpPr>
        <p:spPr>
          <a:xfrm>
            <a:off x="8001000" y="1417320"/>
            <a:ext cx="3474720" cy="132588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65592" y="1545336"/>
            <a:ext cx="3145536" cy="1069848"/>
          </a:xfrm>
          <a:prstGeom prst="rect">
            <a:avLst/>
          </a:prstGeom>
          <a:noFill/>
        </p:spPr>
        <p:txBody>
          <a:bodyPr wrap="square">
            <a:spAutoFit/>
          </a:bodyPr>
          <a:lstStyle/>
          <a:p>
            <a:r>
              <a:rPr sz="1700" b="1">
                <a:solidFill>
                  <a:srgbClr val="12345C"/>
                </a:solidFill>
              </a:rPr>
              <a:t>Explain-back</a:t>
            </a:r>
          </a:p>
          <a:p>
            <a:r>
              <a:rPr sz="1400">
                <a:solidFill>
                  <a:srgbClr val="162033"/>
                </a:solidFill>
              </a:rPr>
              <a:t>Randall states the workflow, bottleneck, next action, and stop line in plain English.</a:t>
            </a:r>
          </a:p>
        </p:txBody>
      </p:sp>
      <p:sp>
        <p:nvSpPr>
          <p:cNvPr id="10" name="Rounded Rectangle 9"/>
          <p:cNvSpPr/>
          <p:nvPr/>
        </p:nvSpPr>
        <p:spPr>
          <a:xfrm>
            <a:off x="685800" y="3154680"/>
            <a:ext cx="5212080" cy="192024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 y="3282696"/>
            <a:ext cx="4882896" cy="1664208"/>
          </a:xfrm>
          <a:prstGeom prst="rect">
            <a:avLst/>
          </a:prstGeom>
          <a:noFill/>
        </p:spPr>
        <p:txBody>
          <a:bodyPr wrap="square">
            <a:spAutoFit/>
          </a:bodyPr>
          <a:lstStyle/>
          <a:p>
            <a:r>
              <a:rPr sz="1700" b="1">
                <a:solidFill>
                  <a:srgbClr val="12345C"/>
                </a:solidFill>
              </a:rPr>
              <a:t>Learning points</a:t>
            </a:r>
          </a:p>
          <a:p>
            <a:r>
              <a:rPr sz="1400">
                <a:solidFill>
                  <a:srgbClr val="162033"/>
                </a:solidFill>
              </a:rPr>
              <a:t>- scenario, module, route, filter, bundle
- when Make is better than Zapier
- duplication and route-testing risks</a:t>
            </a:r>
          </a:p>
        </p:txBody>
      </p:sp>
      <p:sp>
        <p:nvSpPr>
          <p:cNvPr id="12" name="Rounded Rectangle 11"/>
          <p:cNvSpPr/>
          <p:nvPr/>
        </p:nvSpPr>
        <p:spPr>
          <a:xfrm>
            <a:off x="6172200" y="3154680"/>
            <a:ext cx="5303520" cy="192024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36792" y="3282696"/>
            <a:ext cx="4974336" cy="1664208"/>
          </a:xfrm>
          <a:prstGeom prst="rect">
            <a:avLst/>
          </a:prstGeom>
          <a:noFill/>
        </p:spPr>
        <p:txBody>
          <a:bodyPr wrap="square">
            <a:spAutoFit/>
          </a:bodyPr>
          <a:lstStyle/>
          <a:p>
            <a:r>
              <a:rPr sz="1700" b="1">
                <a:solidFill>
                  <a:srgbClr val="12345C"/>
                </a:solidFill>
              </a:rPr>
              <a:t>Acceptance</a:t>
            </a:r>
          </a:p>
          <a:p>
            <a:r>
              <a:rPr sz="1400">
                <a:solidFill>
                  <a:srgbClr val="162033"/>
                </a:solidFill>
              </a:rPr>
              <a:t>Randall can explain one Make scenario and its failure mode.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731520"/>
          </a:xfrm>
          <a:prstGeom prst="rect">
            <a:avLst/>
          </a:prstGeom>
          <a:noFill/>
        </p:spPr>
        <p:txBody>
          <a:bodyPr wrap="none">
            <a:spAutoFit/>
          </a:bodyPr>
          <a:lstStyle/>
          <a:p>
            <a:r>
              <a:rPr sz="3000" b="1">
                <a:solidFill>
                  <a:srgbClr val="162033"/>
                </a:solidFill>
              </a:rPr>
              <a:t>Day 5: Simple CRM / Sheet Control Plane</a:t>
            </a:r>
          </a:p>
        </p:txBody>
      </p:sp>
      <p:sp>
        <p:nvSpPr>
          <p:cNvPr id="3" name="TextBox 2"/>
          <p:cNvSpPr txBox="1"/>
          <p:nvPr/>
        </p:nvSpPr>
        <p:spPr>
          <a:xfrm>
            <a:off x="658368" y="1042415"/>
            <a:ext cx="10424160" cy="384048"/>
          </a:xfrm>
          <a:prstGeom prst="rect">
            <a:avLst/>
          </a:prstGeom>
          <a:noFill/>
        </p:spPr>
        <p:txBody>
          <a:bodyPr wrap="none">
            <a:spAutoFit/>
          </a:bodyPr>
          <a:lstStyle/>
          <a:p>
            <a:r>
              <a:rPr sz="1400">
                <a:solidFill>
                  <a:srgbClr val="58697D"/>
                </a:solidFill>
              </a:rPr>
              <a:t>20 minutes</a:t>
            </a:r>
          </a:p>
        </p:txBody>
      </p:sp>
      <p:sp>
        <p:nvSpPr>
          <p:cNvPr id="4" name="Rounded Rectangle 3"/>
          <p:cNvSpPr/>
          <p:nvPr/>
        </p:nvSpPr>
        <p:spPr>
          <a:xfrm>
            <a:off x="685800" y="1417320"/>
            <a:ext cx="3474720" cy="132588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 y="1545336"/>
            <a:ext cx="3145536" cy="1069848"/>
          </a:xfrm>
          <a:prstGeom prst="rect">
            <a:avLst/>
          </a:prstGeom>
          <a:noFill/>
        </p:spPr>
        <p:txBody>
          <a:bodyPr wrap="square">
            <a:spAutoFit/>
          </a:bodyPr>
          <a:lstStyle/>
          <a:p>
            <a:r>
              <a:rPr sz="1700" b="1">
                <a:solidFill>
                  <a:srgbClr val="12345C"/>
                </a:solidFill>
              </a:rPr>
              <a:t>Scenario</a:t>
            </a:r>
          </a:p>
          <a:p>
            <a:r>
              <a:rPr sz="1400">
                <a:solidFill>
                  <a:srgbClr val="162033"/>
                </a:solidFill>
              </a:rPr>
              <a:t>auto repair quote follow-up list</a:t>
            </a:r>
          </a:p>
        </p:txBody>
      </p:sp>
      <p:sp>
        <p:nvSpPr>
          <p:cNvPr id="6" name="Rounded Rectangle 5"/>
          <p:cNvSpPr/>
          <p:nvPr/>
        </p:nvSpPr>
        <p:spPr>
          <a:xfrm>
            <a:off x="4343400" y="1417320"/>
            <a:ext cx="3474720" cy="132588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07992" y="1545336"/>
            <a:ext cx="3145536" cy="1069848"/>
          </a:xfrm>
          <a:prstGeom prst="rect">
            <a:avLst/>
          </a:prstGeom>
          <a:noFill/>
        </p:spPr>
        <p:txBody>
          <a:bodyPr wrap="square">
            <a:spAutoFit/>
          </a:bodyPr>
          <a:lstStyle/>
          <a:p>
            <a:r>
              <a:rPr sz="1700" b="1">
                <a:solidFill>
                  <a:srgbClr val="12345C"/>
                </a:solidFill>
              </a:rPr>
              <a:t>Activity</a:t>
            </a:r>
          </a:p>
          <a:p>
            <a:r>
              <a:rPr sz="1400">
                <a:solidFill>
                  <a:srgbClr val="162033"/>
                </a:solidFill>
              </a:rPr>
              <a:t>Create fake columns for lead status, next touch, priority, source, owner, and due date.</a:t>
            </a:r>
          </a:p>
        </p:txBody>
      </p:sp>
      <p:sp>
        <p:nvSpPr>
          <p:cNvPr id="8" name="Rounded Rectangle 7"/>
          <p:cNvSpPr/>
          <p:nvPr/>
        </p:nvSpPr>
        <p:spPr>
          <a:xfrm>
            <a:off x="8001000" y="1417320"/>
            <a:ext cx="3474720" cy="132588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65592" y="1545336"/>
            <a:ext cx="3145536" cy="1069848"/>
          </a:xfrm>
          <a:prstGeom prst="rect">
            <a:avLst/>
          </a:prstGeom>
          <a:noFill/>
        </p:spPr>
        <p:txBody>
          <a:bodyPr wrap="square">
            <a:spAutoFit/>
          </a:bodyPr>
          <a:lstStyle/>
          <a:p>
            <a:r>
              <a:rPr sz="1700" b="1">
                <a:solidFill>
                  <a:srgbClr val="12345C"/>
                </a:solidFill>
              </a:rPr>
              <a:t>Explain-back</a:t>
            </a:r>
          </a:p>
          <a:p>
            <a:r>
              <a:rPr sz="1400">
                <a:solidFill>
                  <a:srgbClr val="162033"/>
                </a:solidFill>
              </a:rPr>
              <a:t>Randall states the workflow, bottleneck, next action, and stop line in plain English.</a:t>
            </a:r>
          </a:p>
        </p:txBody>
      </p:sp>
      <p:sp>
        <p:nvSpPr>
          <p:cNvPr id="10" name="Rounded Rectangle 9"/>
          <p:cNvSpPr/>
          <p:nvPr/>
        </p:nvSpPr>
        <p:spPr>
          <a:xfrm>
            <a:off x="685800" y="3154680"/>
            <a:ext cx="5212080" cy="192024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 y="3282696"/>
            <a:ext cx="4882896" cy="1664208"/>
          </a:xfrm>
          <a:prstGeom prst="rect">
            <a:avLst/>
          </a:prstGeom>
          <a:noFill/>
        </p:spPr>
        <p:txBody>
          <a:bodyPr wrap="square">
            <a:spAutoFit/>
          </a:bodyPr>
          <a:lstStyle/>
          <a:p>
            <a:r>
              <a:rPr sz="1700" b="1">
                <a:solidFill>
                  <a:srgbClr val="12345C"/>
                </a:solidFill>
              </a:rPr>
              <a:t>Learning points</a:t>
            </a:r>
          </a:p>
          <a:p>
            <a:r>
              <a:rPr sz="1400">
                <a:solidFill>
                  <a:srgbClr val="162033"/>
                </a:solidFill>
              </a:rPr>
              <a:t>- why Google Sheets/Airtable can be enough at first
- status labels and owner fields
- what belongs in a lead/job tracking table</a:t>
            </a:r>
          </a:p>
        </p:txBody>
      </p:sp>
      <p:sp>
        <p:nvSpPr>
          <p:cNvPr id="12" name="Rounded Rectangle 11"/>
          <p:cNvSpPr/>
          <p:nvPr/>
        </p:nvSpPr>
        <p:spPr>
          <a:xfrm>
            <a:off x="6172200" y="3154680"/>
            <a:ext cx="5303520" cy="192024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36792" y="3282696"/>
            <a:ext cx="4974336" cy="1664208"/>
          </a:xfrm>
          <a:prstGeom prst="rect">
            <a:avLst/>
          </a:prstGeom>
          <a:noFill/>
        </p:spPr>
        <p:txBody>
          <a:bodyPr wrap="square">
            <a:spAutoFit/>
          </a:bodyPr>
          <a:lstStyle/>
          <a:p>
            <a:r>
              <a:rPr sz="1700" b="1">
                <a:solidFill>
                  <a:srgbClr val="12345C"/>
                </a:solidFill>
              </a:rPr>
              <a:t>Acceptance</a:t>
            </a:r>
          </a:p>
          <a:p>
            <a:r>
              <a:rPr sz="1400">
                <a:solidFill>
                  <a:srgbClr val="162033"/>
                </a:solidFill>
              </a:rPr>
              <a:t>Randall can explain a simple tracking table before recommending CRM.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731520"/>
          </a:xfrm>
          <a:prstGeom prst="rect">
            <a:avLst/>
          </a:prstGeom>
          <a:noFill/>
        </p:spPr>
        <p:txBody>
          <a:bodyPr wrap="none">
            <a:spAutoFit/>
          </a:bodyPr>
          <a:lstStyle/>
          <a:p>
            <a:r>
              <a:rPr sz="3000" b="1">
                <a:solidFill>
                  <a:srgbClr val="162033"/>
                </a:solidFill>
              </a:rPr>
              <a:t>Day 6: Phone/SMS Workflow Tools</a:t>
            </a:r>
          </a:p>
        </p:txBody>
      </p:sp>
      <p:sp>
        <p:nvSpPr>
          <p:cNvPr id="3" name="TextBox 2"/>
          <p:cNvSpPr txBox="1"/>
          <p:nvPr/>
        </p:nvSpPr>
        <p:spPr>
          <a:xfrm>
            <a:off x="658368" y="1042415"/>
            <a:ext cx="10424160" cy="384048"/>
          </a:xfrm>
          <a:prstGeom prst="rect">
            <a:avLst/>
          </a:prstGeom>
          <a:noFill/>
        </p:spPr>
        <p:txBody>
          <a:bodyPr wrap="none">
            <a:spAutoFit/>
          </a:bodyPr>
          <a:lstStyle/>
          <a:p>
            <a:r>
              <a:rPr sz="1400">
                <a:solidFill>
                  <a:srgbClr val="58697D"/>
                </a:solidFill>
              </a:rPr>
              <a:t>25 minutes</a:t>
            </a:r>
          </a:p>
        </p:txBody>
      </p:sp>
      <p:sp>
        <p:nvSpPr>
          <p:cNvPr id="4" name="Rounded Rectangle 3"/>
          <p:cNvSpPr/>
          <p:nvPr/>
        </p:nvSpPr>
        <p:spPr>
          <a:xfrm>
            <a:off x="685800" y="1417320"/>
            <a:ext cx="3474720" cy="132588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 y="1545336"/>
            <a:ext cx="3145536" cy="1069848"/>
          </a:xfrm>
          <a:prstGeom prst="rect">
            <a:avLst/>
          </a:prstGeom>
          <a:noFill/>
        </p:spPr>
        <p:txBody>
          <a:bodyPr wrap="square">
            <a:spAutoFit/>
          </a:bodyPr>
          <a:lstStyle/>
          <a:p>
            <a:r>
              <a:rPr sz="1700" b="1">
                <a:solidFill>
                  <a:srgbClr val="12345C"/>
                </a:solidFill>
              </a:rPr>
              <a:t>Scenario</a:t>
            </a:r>
          </a:p>
          <a:p>
            <a:r>
              <a:rPr sz="1400">
                <a:solidFill>
                  <a:srgbClr val="162033"/>
                </a:solidFill>
              </a:rPr>
              <a:t>plumbing missed-call queue</a:t>
            </a:r>
          </a:p>
        </p:txBody>
      </p:sp>
      <p:sp>
        <p:nvSpPr>
          <p:cNvPr id="6" name="Rounded Rectangle 5"/>
          <p:cNvSpPr/>
          <p:nvPr/>
        </p:nvSpPr>
        <p:spPr>
          <a:xfrm>
            <a:off x="4343400" y="1417320"/>
            <a:ext cx="3474720" cy="132588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07992" y="1545336"/>
            <a:ext cx="3145536" cy="1069848"/>
          </a:xfrm>
          <a:prstGeom prst="rect">
            <a:avLst/>
          </a:prstGeom>
          <a:noFill/>
        </p:spPr>
        <p:txBody>
          <a:bodyPr wrap="square">
            <a:spAutoFit/>
          </a:bodyPr>
          <a:lstStyle/>
          <a:p>
            <a:r>
              <a:rPr sz="1700" b="1">
                <a:solidFill>
                  <a:srgbClr val="12345C"/>
                </a:solidFill>
              </a:rPr>
              <a:t>Activity</a:t>
            </a:r>
          </a:p>
          <a:p>
            <a:r>
              <a:rPr sz="1400">
                <a:solidFill>
                  <a:srgbClr val="162033"/>
                </a:solidFill>
              </a:rPr>
              <a:t>Write a safe internal recommendation for missed-call callback priority without sending texts.</a:t>
            </a:r>
          </a:p>
        </p:txBody>
      </p:sp>
      <p:sp>
        <p:nvSpPr>
          <p:cNvPr id="8" name="Rounded Rectangle 7"/>
          <p:cNvSpPr/>
          <p:nvPr/>
        </p:nvSpPr>
        <p:spPr>
          <a:xfrm>
            <a:off x="8001000" y="1417320"/>
            <a:ext cx="3474720" cy="132588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65592" y="1545336"/>
            <a:ext cx="3145536" cy="1069848"/>
          </a:xfrm>
          <a:prstGeom prst="rect">
            <a:avLst/>
          </a:prstGeom>
          <a:noFill/>
        </p:spPr>
        <p:txBody>
          <a:bodyPr wrap="square">
            <a:spAutoFit/>
          </a:bodyPr>
          <a:lstStyle/>
          <a:p>
            <a:r>
              <a:rPr sz="1700" b="1">
                <a:solidFill>
                  <a:srgbClr val="12345C"/>
                </a:solidFill>
              </a:rPr>
              <a:t>Explain-back</a:t>
            </a:r>
          </a:p>
          <a:p>
            <a:r>
              <a:rPr sz="1400">
                <a:solidFill>
                  <a:srgbClr val="162033"/>
                </a:solidFill>
              </a:rPr>
              <a:t>Randall states the workflow, bottleneck, next action, and stop line in plain English.</a:t>
            </a:r>
          </a:p>
        </p:txBody>
      </p:sp>
      <p:sp>
        <p:nvSpPr>
          <p:cNvPr id="10" name="Rounded Rectangle 9"/>
          <p:cNvSpPr/>
          <p:nvPr/>
        </p:nvSpPr>
        <p:spPr>
          <a:xfrm>
            <a:off x="685800" y="3154680"/>
            <a:ext cx="5212080" cy="192024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 y="3282696"/>
            <a:ext cx="4882896" cy="1664208"/>
          </a:xfrm>
          <a:prstGeom prst="rect">
            <a:avLst/>
          </a:prstGeom>
          <a:noFill/>
        </p:spPr>
        <p:txBody>
          <a:bodyPr wrap="square">
            <a:spAutoFit/>
          </a:bodyPr>
          <a:lstStyle/>
          <a:p>
            <a:r>
              <a:rPr sz="1700" b="1">
                <a:solidFill>
                  <a:srgbClr val="12345C"/>
                </a:solidFill>
              </a:rPr>
              <a:t>Learning points</a:t>
            </a:r>
          </a:p>
          <a:p>
            <a:r>
              <a:rPr sz="1400">
                <a:solidFill>
                  <a:srgbClr val="162033"/>
                </a:solidFill>
              </a:rPr>
              <a:t>- OpenPhone vs Twilio mental model
- missed-call text-back concepts
- SMS consent and opt-out sensitivity</a:t>
            </a:r>
          </a:p>
        </p:txBody>
      </p:sp>
      <p:sp>
        <p:nvSpPr>
          <p:cNvPr id="12" name="Rounded Rectangle 11"/>
          <p:cNvSpPr/>
          <p:nvPr/>
        </p:nvSpPr>
        <p:spPr>
          <a:xfrm>
            <a:off x="6172200" y="3154680"/>
            <a:ext cx="5303520" cy="192024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36792" y="3282696"/>
            <a:ext cx="4974336" cy="1664208"/>
          </a:xfrm>
          <a:prstGeom prst="rect">
            <a:avLst/>
          </a:prstGeom>
          <a:noFill/>
        </p:spPr>
        <p:txBody>
          <a:bodyPr wrap="square">
            <a:spAutoFit/>
          </a:bodyPr>
          <a:lstStyle/>
          <a:p>
            <a:r>
              <a:rPr sz="1700" b="1">
                <a:solidFill>
                  <a:srgbClr val="12345C"/>
                </a:solidFill>
              </a:rPr>
              <a:t>Acceptance</a:t>
            </a:r>
          </a:p>
          <a:p>
            <a:r>
              <a:rPr sz="1400">
                <a:solidFill>
                  <a:srgbClr val="162033"/>
                </a:solidFill>
              </a:rPr>
              <a:t>Randall can separate tool recommendation from message sending.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731520"/>
          </a:xfrm>
          <a:prstGeom prst="rect">
            <a:avLst/>
          </a:prstGeom>
          <a:noFill/>
        </p:spPr>
        <p:txBody>
          <a:bodyPr wrap="none">
            <a:spAutoFit/>
          </a:bodyPr>
          <a:lstStyle/>
          <a:p>
            <a:r>
              <a:rPr sz="3000" b="1">
                <a:solidFill>
                  <a:srgbClr val="162033"/>
                </a:solidFill>
              </a:rPr>
              <a:t>Day 7: Customer Packet QA</a:t>
            </a:r>
          </a:p>
        </p:txBody>
      </p:sp>
      <p:sp>
        <p:nvSpPr>
          <p:cNvPr id="3" name="TextBox 2"/>
          <p:cNvSpPr txBox="1"/>
          <p:nvPr/>
        </p:nvSpPr>
        <p:spPr>
          <a:xfrm>
            <a:off x="658368" y="1042415"/>
            <a:ext cx="10424160" cy="384048"/>
          </a:xfrm>
          <a:prstGeom prst="rect">
            <a:avLst/>
          </a:prstGeom>
          <a:noFill/>
        </p:spPr>
        <p:txBody>
          <a:bodyPr wrap="none">
            <a:spAutoFit/>
          </a:bodyPr>
          <a:lstStyle/>
          <a:p>
            <a:r>
              <a:rPr sz="1400">
                <a:solidFill>
                  <a:srgbClr val="58697D"/>
                </a:solidFill>
              </a:rPr>
              <a:t>25 minutes</a:t>
            </a:r>
          </a:p>
        </p:txBody>
      </p:sp>
      <p:sp>
        <p:nvSpPr>
          <p:cNvPr id="4" name="Rounded Rectangle 3"/>
          <p:cNvSpPr/>
          <p:nvPr/>
        </p:nvSpPr>
        <p:spPr>
          <a:xfrm>
            <a:off x="685800" y="1417320"/>
            <a:ext cx="3474720" cy="132588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 y="1545336"/>
            <a:ext cx="3145536" cy="1069848"/>
          </a:xfrm>
          <a:prstGeom prst="rect">
            <a:avLst/>
          </a:prstGeom>
          <a:noFill/>
        </p:spPr>
        <p:txBody>
          <a:bodyPr wrap="square">
            <a:spAutoFit/>
          </a:bodyPr>
          <a:lstStyle/>
          <a:p>
            <a:r>
              <a:rPr sz="1700" b="1">
                <a:solidFill>
                  <a:srgbClr val="12345C"/>
                </a:solidFill>
              </a:rPr>
              <a:t>Scenario</a:t>
            </a:r>
          </a:p>
          <a:p>
            <a:r>
              <a:rPr sz="1400">
                <a:solidFill>
                  <a:srgbClr val="162033"/>
                </a:solidFill>
              </a:rPr>
              <a:t>Lead Rescue customer preview</a:t>
            </a:r>
          </a:p>
        </p:txBody>
      </p:sp>
      <p:sp>
        <p:nvSpPr>
          <p:cNvPr id="6" name="Rounded Rectangle 5"/>
          <p:cNvSpPr/>
          <p:nvPr/>
        </p:nvSpPr>
        <p:spPr>
          <a:xfrm>
            <a:off x="4343400" y="1417320"/>
            <a:ext cx="3474720" cy="132588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07992" y="1545336"/>
            <a:ext cx="3145536" cy="1069848"/>
          </a:xfrm>
          <a:prstGeom prst="rect">
            <a:avLst/>
          </a:prstGeom>
          <a:noFill/>
        </p:spPr>
        <p:txBody>
          <a:bodyPr wrap="square">
            <a:spAutoFit/>
          </a:bodyPr>
          <a:lstStyle/>
          <a:p>
            <a:r>
              <a:rPr sz="1700" b="1">
                <a:solidFill>
                  <a:srgbClr val="12345C"/>
                </a:solidFill>
              </a:rPr>
              <a:t>Activity</a:t>
            </a:r>
          </a:p>
          <a:p>
            <a:r>
              <a:rPr sz="1400">
                <a:solidFill>
                  <a:srgbClr val="162033"/>
                </a:solidFill>
              </a:rPr>
              <a:t>Review one fake customer preview and mark unsafe lines.</a:t>
            </a:r>
          </a:p>
        </p:txBody>
      </p:sp>
      <p:sp>
        <p:nvSpPr>
          <p:cNvPr id="8" name="Rounded Rectangle 7"/>
          <p:cNvSpPr/>
          <p:nvPr/>
        </p:nvSpPr>
        <p:spPr>
          <a:xfrm>
            <a:off x="8001000" y="1417320"/>
            <a:ext cx="3474720" cy="132588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65592" y="1545336"/>
            <a:ext cx="3145536" cy="1069848"/>
          </a:xfrm>
          <a:prstGeom prst="rect">
            <a:avLst/>
          </a:prstGeom>
          <a:noFill/>
        </p:spPr>
        <p:txBody>
          <a:bodyPr wrap="square">
            <a:spAutoFit/>
          </a:bodyPr>
          <a:lstStyle/>
          <a:p>
            <a:r>
              <a:rPr sz="1700" b="1">
                <a:solidFill>
                  <a:srgbClr val="12345C"/>
                </a:solidFill>
              </a:rPr>
              <a:t>Explain-back</a:t>
            </a:r>
          </a:p>
          <a:p>
            <a:r>
              <a:rPr sz="1400">
                <a:solidFill>
                  <a:srgbClr val="162033"/>
                </a:solidFill>
              </a:rPr>
              <a:t>Randall states the workflow, bottleneck, next action, and stop line in plain English.</a:t>
            </a:r>
          </a:p>
        </p:txBody>
      </p:sp>
      <p:sp>
        <p:nvSpPr>
          <p:cNvPr id="10" name="Rounded Rectangle 9"/>
          <p:cNvSpPr/>
          <p:nvPr/>
        </p:nvSpPr>
        <p:spPr>
          <a:xfrm>
            <a:off x="685800" y="3154680"/>
            <a:ext cx="5212080" cy="192024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 y="3282696"/>
            <a:ext cx="4882896" cy="1664208"/>
          </a:xfrm>
          <a:prstGeom prst="rect">
            <a:avLst/>
          </a:prstGeom>
          <a:noFill/>
        </p:spPr>
        <p:txBody>
          <a:bodyPr wrap="square">
            <a:spAutoFit/>
          </a:bodyPr>
          <a:lstStyle/>
          <a:p>
            <a:r>
              <a:rPr sz="1700" b="1">
                <a:solidFill>
                  <a:srgbClr val="12345C"/>
                </a:solidFill>
              </a:rPr>
              <a:t>Learning points</a:t>
            </a:r>
          </a:p>
          <a:p>
            <a:r>
              <a:rPr sz="1400">
                <a:solidFill>
                  <a:srgbClr val="162033"/>
                </a:solidFill>
              </a:rPr>
              <a:t>- private-data leakage checks
- credential and implementation stop lines
- ROI/legal/compliance claim blocks</a:t>
            </a:r>
          </a:p>
        </p:txBody>
      </p:sp>
      <p:sp>
        <p:nvSpPr>
          <p:cNvPr id="12" name="Rounded Rectangle 11"/>
          <p:cNvSpPr/>
          <p:nvPr/>
        </p:nvSpPr>
        <p:spPr>
          <a:xfrm>
            <a:off x="6172200" y="3154680"/>
            <a:ext cx="5303520" cy="192024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36792" y="3282696"/>
            <a:ext cx="4974336" cy="1664208"/>
          </a:xfrm>
          <a:prstGeom prst="rect">
            <a:avLst/>
          </a:prstGeom>
          <a:noFill/>
        </p:spPr>
        <p:txBody>
          <a:bodyPr wrap="square">
            <a:spAutoFit/>
          </a:bodyPr>
          <a:lstStyle/>
          <a:p>
            <a:r>
              <a:rPr sz="1700" b="1">
                <a:solidFill>
                  <a:srgbClr val="12345C"/>
                </a:solidFill>
              </a:rPr>
              <a:t>Acceptance</a:t>
            </a:r>
          </a:p>
          <a:p>
            <a:r>
              <a:rPr sz="1400">
                <a:solidFill>
                  <a:srgbClr val="162033"/>
                </a:solidFill>
              </a:rPr>
              <a:t>Randall catches unsafe claims before delivery.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731520"/>
          </a:xfrm>
          <a:prstGeom prst="rect">
            <a:avLst/>
          </a:prstGeom>
          <a:noFill/>
        </p:spPr>
        <p:txBody>
          <a:bodyPr wrap="none">
            <a:spAutoFit/>
          </a:bodyPr>
          <a:lstStyle/>
          <a:p>
            <a:r>
              <a:rPr sz="3000" b="1">
                <a:solidFill>
                  <a:srgbClr val="162033"/>
                </a:solidFill>
              </a:rPr>
              <a:t>Rollout Week 1: Internal demo and approval preparation</a:t>
            </a:r>
          </a:p>
        </p:txBody>
      </p:sp>
      <p:sp>
        <p:nvSpPr>
          <p:cNvPr id="3" name="TextBox 2"/>
          <p:cNvSpPr txBox="1"/>
          <p:nvPr/>
        </p:nvSpPr>
        <p:spPr>
          <a:xfrm>
            <a:off x="658368" y="1042415"/>
            <a:ext cx="10424160" cy="384048"/>
          </a:xfrm>
          <a:prstGeom prst="rect">
            <a:avLst/>
          </a:prstGeom>
          <a:noFill/>
        </p:spPr>
        <p:txBody>
          <a:bodyPr wrap="none">
            <a:spAutoFit/>
          </a:bodyPr>
          <a:lstStyle/>
          <a:p>
            <a:r>
              <a:rPr sz="1400">
                <a:solidFill>
                  <a:srgbClr val="58697D"/>
                </a:solidFill>
              </a:rPr>
              <a:t>30-day service-led rollout rehearsal</a:t>
            </a:r>
          </a:p>
        </p:txBody>
      </p:sp>
      <p:sp>
        <p:nvSpPr>
          <p:cNvPr id="4" name="Rounded Rectangle 3"/>
          <p:cNvSpPr/>
          <p:nvPr/>
        </p:nvSpPr>
        <p:spPr>
          <a:xfrm>
            <a:off x="685800" y="1280160"/>
            <a:ext cx="5303520" cy="109728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 y="1408176"/>
            <a:ext cx="4974336" cy="841247"/>
          </a:xfrm>
          <a:prstGeom prst="rect">
            <a:avLst/>
          </a:prstGeom>
          <a:noFill/>
        </p:spPr>
        <p:txBody>
          <a:bodyPr wrap="square">
            <a:spAutoFit/>
          </a:bodyPr>
          <a:lstStyle/>
          <a:p>
            <a:r>
              <a:rPr sz="1700" b="1">
                <a:solidFill>
                  <a:srgbClr val="12345C"/>
                </a:solidFill>
              </a:rPr>
              <a:t>Goal</a:t>
            </a:r>
          </a:p>
          <a:p>
            <a:r>
              <a:rPr sz="1400">
                <a:solidFill>
                  <a:srgbClr val="162033"/>
                </a:solidFill>
              </a:rPr>
              <a:t>Choose the first vertical, pick the demo path, rehearse the offer, and draft the approval card.</a:t>
            </a:r>
          </a:p>
        </p:txBody>
      </p:sp>
      <p:sp>
        <p:nvSpPr>
          <p:cNvPr id="6" name="Rounded Rectangle 5"/>
          <p:cNvSpPr/>
          <p:nvPr/>
        </p:nvSpPr>
        <p:spPr>
          <a:xfrm>
            <a:off x="685800" y="2651760"/>
            <a:ext cx="5303520" cy="210312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779776"/>
            <a:ext cx="4974336" cy="1847087"/>
          </a:xfrm>
          <a:prstGeom prst="rect">
            <a:avLst/>
          </a:prstGeom>
          <a:noFill/>
        </p:spPr>
        <p:txBody>
          <a:bodyPr wrap="square">
            <a:spAutoFit/>
          </a:bodyPr>
          <a:lstStyle/>
          <a:p>
            <a:r>
              <a:rPr sz="1700" b="1">
                <a:solidFill>
                  <a:srgbClr val="12345C"/>
                </a:solidFill>
              </a:rPr>
              <a:t>Practice</a:t>
            </a:r>
          </a:p>
          <a:p>
            <a:r>
              <a:rPr sz="1400">
                <a:solidFill>
                  <a:srgbClr val="162033"/>
                </a:solidFill>
              </a:rPr>
              <a:t>- explain the Lead Rescue offer in 90 seconds
- choose the HVAC / plumbing / electrical demo path
- write the no-outreach approval card
- state every stop line out loud</a:t>
            </a:r>
          </a:p>
        </p:txBody>
      </p:sp>
      <p:sp>
        <p:nvSpPr>
          <p:cNvPr id="8" name="Rounded Rectangle 7"/>
          <p:cNvSpPr/>
          <p:nvPr/>
        </p:nvSpPr>
        <p:spPr>
          <a:xfrm>
            <a:off x="6263640" y="1280160"/>
            <a:ext cx="5257800" cy="146304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28231" y="1408176"/>
            <a:ext cx="4928616" cy="1207008"/>
          </a:xfrm>
          <a:prstGeom prst="rect">
            <a:avLst/>
          </a:prstGeom>
          <a:noFill/>
        </p:spPr>
        <p:txBody>
          <a:bodyPr wrap="square">
            <a:spAutoFit/>
          </a:bodyPr>
          <a:lstStyle/>
          <a:p>
            <a:r>
              <a:rPr sz="1700" b="1">
                <a:solidFill>
                  <a:srgbClr val="12345C"/>
                </a:solidFill>
              </a:rPr>
              <a:t>Mock scenarios</a:t>
            </a:r>
          </a:p>
          <a:p>
            <a:r>
              <a:rPr sz="1400">
                <a:solidFill>
                  <a:srgbClr val="162033"/>
                </a:solidFill>
              </a:rPr>
              <a:t>smb-missed-call-capture-v1
smb-owner-attention-dashboard-v1</a:t>
            </a:r>
          </a:p>
        </p:txBody>
      </p:sp>
      <p:sp>
        <p:nvSpPr>
          <p:cNvPr id="10" name="Rounded Rectangle 9"/>
          <p:cNvSpPr/>
          <p:nvPr/>
        </p:nvSpPr>
        <p:spPr>
          <a:xfrm>
            <a:off x="6263640" y="3063240"/>
            <a:ext cx="5257800" cy="169164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8231" y="3191256"/>
            <a:ext cx="4928616" cy="1435608"/>
          </a:xfrm>
          <a:prstGeom prst="rect">
            <a:avLst/>
          </a:prstGeom>
          <a:noFill/>
        </p:spPr>
        <p:txBody>
          <a:bodyPr wrap="square">
            <a:spAutoFit/>
          </a:bodyPr>
          <a:lstStyle/>
          <a:p>
            <a:r>
              <a:rPr sz="1700" b="1">
                <a:solidFill>
                  <a:srgbClr val="12345C"/>
                </a:solidFill>
              </a:rPr>
              <a:t>Acceptance</a:t>
            </a:r>
          </a:p>
          <a:p>
            <a:r>
              <a:rPr sz="1400">
                <a:solidFill>
                  <a:srgbClr val="162033"/>
                </a:solidFill>
              </a:rPr>
              <a:t>Randall can explain the offer and approval gate without implying public launch, outreach, ROI, credentials, or implementation.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731520"/>
          </a:xfrm>
          <a:prstGeom prst="rect">
            <a:avLst/>
          </a:prstGeom>
          <a:noFill/>
        </p:spPr>
        <p:txBody>
          <a:bodyPr wrap="none">
            <a:spAutoFit/>
          </a:bodyPr>
          <a:lstStyle/>
          <a:p>
            <a:r>
              <a:rPr sz="3000" b="1">
                <a:solidFill>
                  <a:srgbClr val="162033"/>
                </a:solidFill>
              </a:rPr>
              <a:t>Rollout Week 2: Warm-list and conversation rehearsal</a:t>
            </a:r>
          </a:p>
        </p:txBody>
      </p:sp>
      <p:sp>
        <p:nvSpPr>
          <p:cNvPr id="3" name="TextBox 2"/>
          <p:cNvSpPr txBox="1"/>
          <p:nvPr/>
        </p:nvSpPr>
        <p:spPr>
          <a:xfrm>
            <a:off x="658368" y="1042415"/>
            <a:ext cx="10424160" cy="384048"/>
          </a:xfrm>
          <a:prstGeom prst="rect">
            <a:avLst/>
          </a:prstGeom>
          <a:noFill/>
        </p:spPr>
        <p:txBody>
          <a:bodyPr wrap="none">
            <a:spAutoFit/>
          </a:bodyPr>
          <a:lstStyle/>
          <a:p>
            <a:r>
              <a:rPr sz="1400">
                <a:solidFill>
                  <a:srgbClr val="58697D"/>
                </a:solidFill>
              </a:rPr>
              <a:t>30-day service-led rollout rehearsal</a:t>
            </a:r>
          </a:p>
        </p:txBody>
      </p:sp>
      <p:sp>
        <p:nvSpPr>
          <p:cNvPr id="4" name="Rounded Rectangle 3"/>
          <p:cNvSpPr/>
          <p:nvPr/>
        </p:nvSpPr>
        <p:spPr>
          <a:xfrm>
            <a:off x="685800" y="1280160"/>
            <a:ext cx="5303520" cy="109728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 y="1408176"/>
            <a:ext cx="4974336" cy="841247"/>
          </a:xfrm>
          <a:prstGeom prst="rect">
            <a:avLst/>
          </a:prstGeom>
          <a:noFill/>
        </p:spPr>
        <p:txBody>
          <a:bodyPr wrap="square">
            <a:spAutoFit/>
          </a:bodyPr>
          <a:lstStyle/>
          <a:p>
            <a:r>
              <a:rPr sz="1700" b="1">
                <a:solidFill>
                  <a:srgbClr val="12345C"/>
                </a:solidFill>
              </a:rPr>
              <a:t>Goal</a:t>
            </a:r>
          </a:p>
          <a:p>
            <a:r>
              <a:rPr sz="1400">
                <a:solidFill>
                  <a:srgbClr val="162033"/>
                </a:solidFill>
              </a:rPr>
              <a:t>Practice discovery, objection handling, and sanitized intake boundaries before any real contact.</a:t>
            </a:r>
          </a:p>
        </p:txBody>
      </p:sp>
      <p:sp>
        <p:nvSpPr>
          <p:cNvPr id="6" name="Rounded Rectangle 5"/>
          <p:cNvSpPr/>
          <p:nvPr/>
        </p:nvSpPr>
        <p:spPr>
          <a:xfrm>
            <a:off x="685800" y="2651760"/>
            <a:ext cx="5303520" cy="210312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779776"/>
            <a:ext cx="4974336" cy="1847087"/>
          </a:xfrm>
          <a:prstGeom prst="rect">
            <a:avLst/>
          </a:prstGeom>
          <a:noFill/>
        </p:spPr>
        <p:txBody>
          <a:bodyPr wrap="square">
            <a:spAutoFit/>
          </a:bodyPr>
          <a:lstStyle/>
          <a:p>
            <a:r>
              <a:rPr sz="1700" b="1">
                <a:solidFill>
                  <a:srgbClr val="12345C"/>
                </a:solidFill>
              </a:rPr>
              <a:t>Practice</a:t>
            </a:r>
          </a:p>
          <a:p>
            <a:r>
              <a:rPr sz="1400">
                <a:solidFill>
                  <a:srgbClr val="162033"/>
                </a:solidFill>
              </a:rPr>
              <a:t>- run a discovery roleplay
- ask for sanitized workflow description only
- answer common objections without hype
- mark bad-fit conversations cleanly</a:t>
            </a:r>
          </a:p>
        </p:txBody>
      </p:sp>
      <p:sp>
        <p:nvSpPr>
          <p:cNvPr id="8" name="Rounded Rectangle 7"/>
          <p:cNvSpPr/>
          <p:nvPr/>
        </p:nvSpPr>
        <p:spPr>
          <a:xfrm>
            <a:off x="6263640" y="1280160"/>
            <a:ext cx="5257800" cy="146304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28231" y="1408176"/>
            <a:ext cx="4928616" cy="1207008"/>
          </a:xfrm>
          <a:prstGeom prst="rect">
            <a:avLst/>
          </a:prstGeom>
          <a:noFill/>
        </p:spPr>
        <p:txBody>
          <a:bodyPr wrap="square">
            <a:spAutoFit/>
          </a:bodyPr>
          <a:lstStyle/>
          <a:p>
            <a:r>
              <a:rPr sz="1700" b="1">
                <a:solidFill>
                  <a:srgbClr val="12345C"/>
                </a:solidFill>
              </a:rPr>
              <a:t>Mock scenarios</a:t>
            </a:r>
          </a:p>
          <a:p>
            <a:r>
              <a:rPr sz="1400">
                <a:solidFill>
                  <a:srgbClr val="162033"/>
                </a:solidFill>
              </a:rPr>
              <a:t>smb-lead-intake-routing-v1
smb-follow-up-sequences-v1</a:t>
            </a:r>
          </a:p>
        </p:txBody>
      </p:sp>
      <p:sp>
        <p:nvSpPr>
          <p:cNvPr id="10" name="Rounded Rectangle 9"/>
          <p:cNvSpPr/>
          <p:nvPr/>
        </p:nvSpPr>
        <p:spPr>
          <a:xfrm>
            <a:off x="6263640" y="3063240"/>
            <a:ext cx="5257800" cy="169164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8231" y="3191256"/>
            <a:ext cx="4928616" cy="1435608"/>
          </a:xfrm>
          <a:prstGeom prst="rect">
            <a:avLst/>
          </a:prstGeom>
          <a:noFill/>
        </p:spPr>
        <p:txBody>
          <a:bodyPr wrap="square">
            <a:spAutoFit/>
          </a:bodyPr>
          <a:lstStyle/>
          <a:p>
            <a:r>
              <a:rPr sz="1700" b="1">
                <a:solidFill>
                  <a:srgbClr val="12345C"/>
                </a:solidFill>
              </a:rPr>
              <a:t>Acceptance</a:t>
            </a:r>
          </a:p>
          <a:p>
            <a:r>
              <a:rPr sz="1400">
                <a:solidFill>
                  <a:srgbClr val="162033"/>
                </a:solidFill>
              </a:rPr>
              <a:t>Randall can complete a fake discovery call and keep all data, messaging, credential, and ROI boundaries intact.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731520"/>
          </a:xfrm>
          <a:prstGeom prst="rect">
            <a:avLst/>
          </a:prstGeom>
          <a:noFill/>
        </p:spPr>
        <p:txBody>
          <a:bodyPr wrap="none">
            <a:spAutoFit/>
          </a:bodyPr>
          <a:lstStyle/>
          <a:p>
            <a:r>
              <a:rPr sz="3000" b="1">
                <a:solidFill>
                  <a:srgbClr val="162033"/>
                </a:solidFill>
              </a:rPr>
              <a:t>Rollout Week 3: Paid pilot delivery rehearsal</a:t>
            </a:r>
          </a:p>
        </p:txBody>
      </p:sp>
      <p:sp>
        <p:nvSpPr>
          <p:cNvPr id="3" name="TextBox 2"/>
          <p:cNvSpPr txBox="1"/>
          <p:nvPr/>
        </p:nvSpPr>
        <p:spPr>
          <a:xfrm>
            <a:off x="658368" y="1042415"/>
            <a:ext cx="10424160" cy="384048"/>
          </a:xfrm>
          <a:prstGeom prst="rect">
            <a:avLst/>
          </a:prstGeom>
          <a:noFill/>
        </p:spPr>
        <p:txBody>
          <a:bodyPr wrap="none">
            <a:spAutoFit/>
          </a:bodyPr>
          <a:lstStyle/>
          <a:p>
            <a:r>
              <a:rPr sz="1400">
                <a:solidFill>
                  <a:srgbClr val="58697D"/>
                </a:solidFill>
              </a:rPr>
              <a:t>30-day service-led rollout rehearsal</a:t>
            </a:r>
          </a:p>
        </p:txBody>
      </p:sp>
      <p:sp>
        <p:nvSpPr>
          <p:cNvPr id="4" name="Rounded Rectangle 3"/>
          <p:cNvSpPr/>
          <p:nvPr/>
        </p:nvSpPr>
        <p:spPr>
          <a:xfrm>
            <a:off x="685800" y="1280160"/>
            <a:ext cx="5303520" cy="109728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 y="1408176"/>
            <a:ext cx="4974336" cy="841247"/>
          </a:xfrm>
          <a:prstGeom prst="rect">
            <a:avLst/>
          </a:prstGeom>
          <a:noFill/>
        </p:spPr>
        <p:txBody>
          <a:bodyPr wrap="square">
            <a:spAutoFit/>
          </a:bodyPr>
          <a:lstStyle/>
          <a:p>
            <a:r>
              <a:rPr sz="1700" b="1">
                <a:solidFill>
                  <a:srgbClr val="12345C"/>
                </a:solidFill>
              </a:rPr>
              <a:t>Goal</a:t>
            </a:r>
          </a:p>
          <a:p>
            <a:r>
              <a:rPr sz="1400">
                <a:solidFill>
                  <a:srgbClr val="162033"/>
                </a:solidFill>
              </a:rPr>
              <a:t>Run the manual delivery flow against fake inputs before a real paid pilot is approved.</a:t>
            </a:r>
          </a:p>
        </p:txBody>
      </p:sp>
      <p:sp>
        <p:nvSpPr>
          <p:cNvPr id="6" name="Rounded Rectangle 5"/>
          <p:cNvSpPr/>
          <p:nvPr/>
        </p:nvSpPr>
        <p:spPr>
          <a:xfrm>
            <a:off x="685800" y="2651760"/>
            <a:ext cx="5303520" cy="210312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779776"/>
            <a:ext cx="4974336" cy="1847087"/>
          </a:xfrm>
          <a:prstGeom prst="rect">
            <a:avLst/>
          </a:prstGeom>
          <a:noFill/>
        </p:spPr>
        <p:txBody>
          <a:bodyPr wrap="square">
            <a:spAutoFit/>
          </a:bodyPr>
          <a:lstStyle/>
          <a:p>
            <a:r>
              <a:rPr sz="1700" b="1">
                <a:solidFill>
                  <a:srgbClr val="12345C"/>
                </a:solidFill>
              </a:rPr>
              <a:t>Practice</a:t>
            </a:r>
          </a:p>
          <a:p>
            <a:r>
              <a:rPr sz="1400">
                <a:solidFill>
                  <a:srgbClr val="162033"/>
                </a:solidFill>
              </a:rPr>
              <a:t>- build a lead-flow map
- build an owner attention queue
- draft follow-up examples for human review
- write the automation blueprint handoff</a:t>
            </a:r>
          </a:p>
        </p:txBody>
      </p:sp>
      <p:sp>
        <p:nvSpPr>
          <p:cNvPr id="8" name="Rounded Rectangle 7"/>
          <p:cNvSpPr/>
          <p:nvPr/>
        </p:nvSpPr>
        <p:spPr>
          <a:xfrm>
            <a:off x="6263640" y="1280160"/>
            <a:ext cx="5257800" cy="146304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28231" y="1408176"/>
            <a:ext cx="4928616" cy="1207008"/>
          </a:xfrm>
          <a:prstGeom prst="rect">
            <a:avLst/>
          </a:prstGeom>
          <a:noFill/>
        </p:spPr>
        <p:txBody>
          <a:bodyPr wrap="square">
            <a:spAutoFit/>
          </a:bodyPr>
          <a:lstStyle/>
          <a:p>
            <a:r>
              <a:rPr sz="1700" b="1">
                <a:solidFill>
                  <a:srgbClr val="12345C"/>
                </a:solidFill>
              </a:rPr>
              <a:t>Mock scenarios</a:t>
            </a:r>
          </a:p>
          <a:p>
            <a:r>
              <a:rPr sz="1400">
                <a:solidFill>
                  <a:srgbClr val="162033"/>
                </a:solidFill>
              </a:rPr>
              <a:t>smb-lead-status-tracking-v1
smb-script-message-pack-v1</a:t>
            </a:r>
          </a:p>
        </p:txBody>
      </p:sp>
      <p:sp>
        <p:nvSpPr>
          <p:cNvPr id="10" name="Rounded Rectangle 9"/>
          <p:cNvSpPr/>
          <p:nvPr/>
        </p:nvSpPr>
        <p:spPr>
          <a:xfrm>
            <a:off x="6263640" y="3063240"/>
            <a:ext cx="5257800" cy="169164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8231" y="3191256"/>
            <a:ext cx="4928616" cy="1435608"/>
          </a:xfrm>
          <a:prstGeom prst="rect">
            <a:avLst/>
          </a:prstGeom>
          <a:noFill/>
        </p:spPr>
        <p:txBody>
          <a:bodyPr wrap="square">
            <a:spAutoFit/>
          </a:bodyPr>
          <a:lstStyle/>
          <a:p>
            <a:r>
              <a:rPr sz="1700" b="1">
                <a:solidFill>
                  <a:srgbClr val="12345C"/>
                </a:solidFill>
              </a:rPr>
              <a:t>Acceptance</a:t>
            </a:r>
          </a:p>
          <a:p>
            <a:r>
              <a:rPr sz="1400">
                <a:solidFill>
                  <a:srgbClr val="162033"/>
                </a:solidFill>
              </a:rPr>
              <a:t>Randall can produce a mock pilot packet and explain what remains blocked until exact owner approval.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731520"/>
          </a:xfrm>
          <a:prstGeom prst="rect">
            <a:avLst/>
          </a:prstGeom>
          <a:noFill/>
        </p:spPr>
        <p:txBody>
          <a:bodyPr wrap="none">
            <a:spAutoFit/>
          </a:bodyPr>
          <a:lstStyle/>
          <a:p>
            <a:r>
              <a:rPr sz="3000" b="1">
                <a:solidFill>
                  <a:srgbClr val="162033"/>
                </a:solidFill>
              </a:rPr>
              <a:t>Rollout Week 4: Closeout, proof, and retainer offer rehearsal</a:t>
            </a:r>
          </a:p>
        </p:txBody>
      </p:sp>
      <p:sp>
        <p:nvSpPr>
          <p:cNvPr id="3" name="TextBox 2"/>
          <p:cNvSpPr txBox="1"/>
          <p:nvPr/>
        </p:nvSpPr>
        <p:spPr>
          <a:xfrm>
            <a:off x="658368" y="1042415"/>
            <a:ext cx="10424160" cy="384048"/>
          </a:xfrm>
          <a:prstGeom prst="rect">
            <a:avLst/>
          </a:prstGeom>
          <a:noFill/>
        </p:spPr>
        <p:txBody>
          <a:bodyPr wrap="none">
            <a:spAutoFit/>
          </a:bodyPr>
          <a:lstStyle/>
          <a:p>
            <a:r>
              <a:rPr sz="1400">
                <a:solidFill>
                  <a:srgbClr val="58697D"/>
                </a:solidFill>
              </a:rPr>
              <a:t>30-day service-led rollout rehearsal</a:t>
            </a:r>
          </a:p>
        </p:txBody>
      </p:sp>
      <p:sp>
        <p:nvSpPr>
          <p:cNvPr id="4" name="Rounded Rectangle 3"/>
          <p:cNvSpPr/>
          <p:nvPr/>
        </p:nvSpPr>
        <p:spPr>
          <a:xfrm>
            <a:off x="685800" y="1280160"/>
            <a:ext cx="5303520" cy="109728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 y="1408176"/>
            <a:ext cx="4974336" cy="841247"/>
          </a:xfrm>
          <a:prstGeom prst="rect">
            <a:avLst/>
          </a:prstGeom>
          <a:noFill/>
        </p:spPr>
        <p:txBody>
          <a:bodyPr wrap="square">
            <a:spAutoFit/>
          </a:bodyPr>
          <a:lstStyle/>
          <a:p>
            <a:r>
              <a:rPr sz="1700" b="1">
                <a:solidFill>
                  <a:srgbClr val="12345C"/>
                </a:solidFill>
              </a:rPr>
              <a:t>Goal</a:t>
            </a:r>
          </a:p>
          <a:p>
            <a:r>
              <a:rPr sz="1400">
                <a:solidFill>
                  <a:srgbClr val="162033"/>
                </a:solidFill>
              </a:rPr>
              <a:t>Practice pilot recap, no-hype proof framing, retainer-fit judgment, and next-step recommendation.</a:t>
            </a:r>
          </a:p>
        </p:txBody>
      </p:sp>
      <p:sp>
        <p:nvSpPr>
          <p:cNvPr id="6" name="Rounded Rectangle 5"/>
          <p:cNvSpPr/>
          <p:nvPr/>
        </p:nvSpPr>
        <p:spPr>
          <a:xfrm>
            <a:off x="685800" y="2651760"/>
            <a:ext cx="5303520" cy="210312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779776"/>
            <a:ext cx="4974336" cy="1847087"/>
          </a:xfrm>
          <a:prstGeom prst="rect">
            <a:avLst/>
          </a:prstGeom>
          <a:noFill/>
        </p:spPr>
        <p:txBody>
          <a:bodyPr wrap="square">
            <a:spAutoFit/>
          </a:bodyPr>
          <a:lstStyle/>
          <a:p>
            <a:r>
              <a:rPr sz="1700" b="1">
                <a:solidFill>
                  <a:srgbClr val="12345C"/>
                </a:solidFill>
              </a:rPr>
              <a:t>Practice</a:t>
            </a:r>
          </a:p>
          <a:p>
            <a:r>
              <a:rPr sz="1400">
                <a:solidFill>
                  <a:srgbClr val="162033"/>
                </a:solidFill>
              </a:rPr>
              <a:t>- write a pilot closeout summary
- separate observations from ROI claims
- choose continue, retainer, or no-fit
- name the next safe experiment</a:t>
            </a:r>
          </a:p>
        </p:txBody>
      </p:sp>
      <p:sp>
        <p:nvSpPr>
          <p:cNvPr id="8" name="Rounded Rectangle 7"/>
          <p:cNvSpPr/>
          <p:nvPr/>
        </p:nvSpPr>
        <p:spPr>
          <a:xfrm>
            <a:off x="6263640" y="1280160"/>
            <a:ext cx="5257800" cy="146304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28231" y="1408176"/>
            <a:ext cx="4928616" cy="1207008"/>
          </a:xfrm>
          <a:prstGeom prst="rect">
            <a:avLst/>
          </a:prstGeom>
          <a:noFill/>
        </p:spPr>
        <p:txBody>
          <a:bodyPr wrap="square">
            <a:spAutoFit/>
          </a:bodyPr>
          <a:lstStyle/>
          <a:p>
            <a:r>
              <a:rPr sz="1700" b="1">
                <a:solidFill>
                  <a:srgbClr val="12345C"/>
                </a:solidFill>
              </a:rPr>
              <a:t>Mock scenarios</a:t>
            </a:r>
          </a:p>
          <a:p>
            <a:r>
              <a:rPr sz="1400">
                <a:solidFill>
                  <a:srgbClr val="162033"/>
                </a:solidFill>
              </a:rPr>
              <a:t>smb-sales-pipeline-cleanup-v1
smb-tool-stack-recommendation-v1</a:t>
            </a:r>
          </a:p>
        </p:txBody>
      </p:sp>
      <p:sp>
        <p:nvSpPr>
          <p:cNvPr id="10" name="Rounded Rectangle 9"/>
          <p:cNvSpPr/>
          <p:nvPr/>
        </p:nvSpPr>
        <p:spPr>
          <a:xfrm>
            <a:off x="6263640" y="3063240"/>
            <a:ext cx="5257800" cy="169164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8231" y="3191256"/>
            <a:ext cx="4928616" cy="1435608"/>
          </a:xfrm>
          <a:prstGeom prst="rect">
            <a:avLst/>
          </a:prstGeom>
          <a:noFill/>
        </p:spPr>
        <p:txBody>
          <a:bodyPr wrap="square">
            <a:spAutoFit/>
          </a:bodyPr>
          <a:lstStyle/>
          <a:p>
            <a:r>
              <a:rPr sz="1700" b="1">
                <a:solidFill>
                  <a:srgbClr val="12345C"/>
                </a:solidFill>
              </a:rPr>
              <a:t>Acceptance</a:t>
            </a:r>
          </a:p>
          <a:p>
            <a:r>
              <a:rPr sz="1400">
                <a:solidFill>
                  <a:srgbClr val="162033"/>
                </a:solidFill>
              </a:rPr>
              <a:t>Randall can close the loop without overclaiming results or turning a pilot into unapproved implementation.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731520"/>
          </a:xfrm>
          <a:prstGeom prst="rect">
            <a:avLst/>
          </a:prstGeom>
          <a:noFill/>
        </p:spPr>
        <p:txBody>
          <a:bodyPr wrap="none">
            <a:spAutoFit/>
          </a:bodyPr>
          <a:lstStyle/>
          <a:p>
            <a:r>
              <a:rPr sz="3000" b="1">
                <a:solidFill>
                  <a:srgbClr val="162033"/>
                </a:solidFill>
              </a:rPr>
              <a:t>Training: SMB Service-Led Offer Basics</a:t>
            </a:r>
          </a:p>
        </p:txBody>
      </p:sp>
      <p:sp>
        <p:nvSpPr>
          <p:cNvPr id="3" name="TextBox 2"/>
          <p:cNvSpPr txBox="1"/>
          <p:nvPr/>
        </p:nvSpPr>
        <p:spPr>
          <a:xfrm>
            <a:off x="658368" y="1042415"/>
            <a:ext cx="10424160" cy="384048"/>
          </a:xfrm>
          <a:prstGeom prst="rect">
            <a:avLst/>
          </a:prstGeom>
          <a:noFill/>
        </p:spPr>
        <p:txBody>
          <a:bodyPr wrap="none">
            <a:spAutoFit/>
          </a:bodyPr>
          <a:lstStyle/>
          <a:p>
            <a:r>
              <a:rPr sz="1400">
                <a:solidFill>
                  <a:srgbClr val="58697D"/>
                </a:solidFill>
              </a:rPr>
              <a:t>Actual lesson content</a:t>
            </a:r>
          </a:p>
        </p:txBody>
      </p:sp>
      <p:sp>
        <p:nvSpPr>
          <p:cNvPr id="4" name="Rounded Rectangle 3"/>
          <p:cNvSpPr/>
          <p:nvPr/>
        </p:nvSpPr>
        <p:spPr>
          <a:xfrm>
            <a:off x="685800" y="1280160"/>
            <a:ext cx="5303520" cy="109728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 y="1408176"/>
            <a:ext cx="4974336" cy="841247"/>
          </a:xfrm>
          <a:prstGeom prst="rect">
            <a:avLst/>
          </a:prstGeom>
          <a:noFill/>
        </p:spPr>
        <p:txBody>
          <a:bodyPr wrap="square">
            <a:spAutoFit/>
          </a:bodyPr>
          <a:lstStyle/>
          <a:p>
            <a:r>
              <a:rPr sz="1700" b="1">
                <a:solidFill>
                  <a:srgbClr val="12345C"/>
                </a:solidFill>
              </a:rPr>
              <a:t>Objective</a:t>
            </a:r>
          </a:p>
          <a:p>
            <a:r>
              <a:rPr sz="1400">
                <a:solidFill>
                  <a:srgbClr val="162033"/>
                </a:solidFill>
              </a:rPr>
              <a:t>Randall can explain the SMB Workflow Clarity service in plain English, including scope, exclusions, and the next step.</a:t>
            </a:r>
          </a:p>
        </p:txBody>
      </p:sp>
      <p:sp>
        <p:nvSpPr>
          <p:cNvPr id="6" name="Rounded Rectangle 5"/>
          <p:cNvSpPr/>
          <p:nvPr/>
        </p:nvSpPr>
        <p:spPr>
          <a:xfrm>
            <a:off x="685800" y="2651760"/>
            <a:ext cx="5303520" cy="237744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779776"/>
            <a:ext cx="4974336" cy="2121408"/>
          </a:xfrm>
          <a:prstGeom prst="rect">
            <a:avLst/>
          </a:prstGeom>
          <a:noFill/>
        </p:spPr>
        <p:txBody>
          <a:bodyPr wrap="square">
            <a:spAutoFit/>
          </a:bodyPr>
          <a:lstStyle/>
          <a:p>
            <a:r>
              <a:rPr sz="1700" b="1">
                <a:solidFill>
                  <a:srgbClr val="12345C"/>
                </a:solidFill>
              </a:rPr>
              <a:t>Core lesson</a:t>
            </a:r>
          </a:p>
          <a:p>
            <a:r>
              <a:rPr sz="1400">
                <a:solidFill>
                  <a:srgbClr val="162033"/>
                </a:solidFill>
              </a:rPr>
              <a:t>Small businesses often do not need a new SaaS platform first. They need someone to show them where the current workflow is leaking attention, leads, follow-up, appointments, quotes, or cash.
Our first service is a manual Workflow Clarity packet. We inspect a sanitized or fake scenario, map what is happening, identify where work stalls, and produce a practical owner-facing packet.
The packet can include a daily attention list, lead status cleanup, callback priority, suggested scripts, simple tracking fields, and a tool-stack recommendation.</a:t>
            </a:r>
          </a:p>
        </p:txBody>
      </p:sp>
      <p:sp>
        <p:nvSpPr>
          <p:cNvPr id="8" name="Rounded Rectangle 7"/>
          <p:cNvSpPr/>
          <p:nvPr/>
        </p:nvSpPr>
        <p:spPr>
          <a:xfrm>
            <a:off x="6263640" y="1280160"/>
            <a:ext cx="5257800" cy="182880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28231" y="1408176"/>
            <a:ext cx="4928616" cy="1572768"/>
          </a:xfrm>
          <a:prstGeom prst="rect">
            <a:avLst/>
          </a:prstGeom>
          <a:noFill/>
        </p:spPr>
        <p:txBody>
          <a:bodyPr wrap="square">
            <a:spAutoFit/>
          </a:bodyPr>
          <a:lstStyle/>
          <a:p>
            <a:r>
              <a:rPr sz="1700" b="1">
                <a:solidFill>
                  <a:srgbClr val="12345C"/>
                </a:solidFill>
              </a:rPr>
              <a:t>Key terms</a:t>
            </a:r>
          </a:p>
          <a:p>
            <a:r>
              <a:rPr sz="1400">
                <a:solidFill>
                  <a:srgbClr val="162033"/>
                </a:solidFill>
              </a:rPr>
              <a:t>Service-led SaaS: A manual service that proves the workflow and customer value before software automation is fully built.
Lead Rescue: Finding and prioritizing missed or stalled inquiries so the owner knows who needs attention first.
Workflow Clarity packet: A structured deliverable showing the workflow, bottlenecks, next actions, scripts, and tool recommendations.</a:t>
            </a:r>
          </a:p>
        </p:txBody>
      </p:sp>
      <p:sp>
        <p:nvSpPr>
          <p:cNvPr id="10" name="Rounded Rectangle 9"/>
          <p:cNvSpPr/>
          <p:nvPr/>
        </p:nvSpPr>
        <p:spPr>
          <a:xfrm>
            <a:off x="6263640" y="3429000"/>
            <a:ext cx="5257800" cy="160020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8231" y="3557016"/>
            <a:ext cx="4928616" cy="1344168"/>
          </a:xfrm>
          <a:prstGeom prst="rect">
            <a:avLst/>
          </a:prstGeom>
          <a:noFill/>
        </p:spPr>
        <p:txBody>
          <a:bodyPr wrap="square">
            <a:spAutoFit/>
          </a:bodyPr>
          <a:lstStyle/>
          <a:p>
            <a:r>
              <a:rPr sz="1700" b="1">
                <a:solidFill>
                  <a:srgbClr val="12345C"/>
                </a:solidFill>
              </a:rPr>
              <a:t>Practice</a:t>
            </a:r>
          </a:p>
          <a:p>
            <a:r>
              <a:rPr sz="1400">
                <a:solidFill>
                  <a:srgbClr val="162033"/>
                </a:solidFill>
              </a:rPr>
              <a:t>State the customer pain in one sentence.
State what we produce in one sentence.
State what we do not do yet.
State the next step: a sanitized intake or fake-scenario review.</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731520"/>
          </a:xfrm>
          <a:prstGeom prst="rect">
            <a:avLst/>
          </a:prstGeom>
          <a:noFill/>
        </p:spPr>
        <p:txBody>
          <a:bodyPr wrap="none">
            <a:spAutoFit/>
          </a:bodyPr>
          <a:lstStyle/>
          <a:p>
            <a:r>
              <a:rPr sz="3000" b="1">
                <a:solidFill>
                  <a:srgbClr val="162033"/>
                </a:solidFill>
              </a:rPr>
              <a:t>Worked Example: SMB Service-Led Offer Basics</a:t>
            </a:r>
          </a:p>
        </p:txBody>
      </p:sp>
      <p:sp>
        <p:nvSpPr>
          <p:cNvPr id="3" name="TextBox 2"/>
          <p:cNvSpPr txBox="1"/>
          <p:nvPr/>
        </p:nvSpPr>
        <p:spPr>
          <a:xfrm>
            <a:off x="658368" y="1042415"/>
            <a:ext cx="10424160" cy="384048"/>
          </a:xfrm>
          <a:prstGeom prst="rect">
            <a:avLst/>
          </a:prstGeom>
          <a:noFill/>
        </p:spPr>
        <p:txBody>
          <a:bodyPr wrap="none">
            <a:spAutoFit/>
          </a:bodyPr>
          <a:lstStyle/>
          <a:p>
            <a:r>
              <a:rPr sz="1400">
                <a:solidFill>
                  <a:srgbClr val="58697D"/>
                </a:solidFill>
              </a:rPr>
              <a:t>Compare weak vs better framing</a:t>
            </a:r>
          </a:p>
        </p:txBody>
      </p:sp>
      <p:sp>
        <p:nvSpPr>
          <p:cNvPr id="4" name="Rounded Rectangle 3"/>
          <p:cNvSpPr/>
          <p:nvPr/>
        </p:nvSpPr>
        <p:spPr>
          <a:xfrm>
            <a:off x="685800" y="1234440"/>
            <a:ext cx="10789920" cy="91440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 y="1362456"/>
            <a:ext cx="10460736" cy="658368"/>
          </a:xfrm>
          <a:prstGeom prst="rect">
            <a:avLst/>
          </a:prstGeom>
          <a:noFill/>
        </p:spPr>
        <p:txBody>
          <a:bodyPr wrap="square">
            <a:spAutoFit/>
          </a:bodyPr>
          <a:lstStyle/>
          <a:p>
            <a:r>
              <a:rPr sz="1700" b="1">
                <a:solidFill>
                  <a:srgbClr val="12345C"/>
                </a:solidFill>
              </a:rPr>
              <a:t>Scenario</a:t>
            </a:r>
          </a:p>
          <a:p>
            <a:r>
              <a:rPr sz="1400">
                <a:solidFill>
                  <a:srgbClr val="162033"/>
                </a:solidFill>
              </a:rPr>
              <a:t>Desert Peak HVAC misses 12 calls in a week. Some callers leave voicemails, some submit forms, and quotes are not followed up consistently.</a:t>
            </a:r>
          </a:p>
        </p:txBody>
      </p:sp>
      <p:sp>
        <p:nvSpPr>
          <p:cNvPr id="6" name="Rounded Rectangle 5"/>
          <p:cNvSpPr/>
          <p:nvPr/>
        </p:nvSpPr>
        <p:spPr>
          <a:xfrm>
            <a:off x="685800" y="2514600"/>
            <a:ext cx="5212080" cy="128016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642616"/>
            <a:ext cx="4882896" cy="1024127"/>
          </a:xfrm>
          <a:prstGeom prst="rect">
            <a:avLst/>
          </a:prstGeom>
          <a:noFill/>
        </p:spPr>
        <p:txBody>
          <a:bodyPr wrap="square">
            <a:spAutoFit/>
          </a:bodyPr>
          <a:lstStyle/>
          <a:p>
            <a:r>
              <a:rPr sz="1700" b="1">
                <a:solidFill>
                  <a:srgbClr val="12345C"/>
                </a:solidFill>
              </a:rPr>
              <a:t>Weak version</a:t>
            </a:r>
          </a:p>
          <a:p>
            <a:r>
              <a:rPr sz="1400">
                <a:solidFill>
                  <a:srgbClr val="162033"/>
                </a:solidFill>
              </a:rPr>
              <a:t>We use AI to automate your whole business and recover lost revenue fast.</a:t>
            </a:r>
          </a:p>
        </p:txBody>
      </p:sp>
      <p:sp>
        <p:nvSpPr>
          <p:cNvPr id="8" name="Rounded Rectangle 7"/>
          <p:cNvSpPr/>
          <p:nvPr/>
        </p:nvSpPr>
        <p:spPr>
          <a:xfrm>
            <a:off x="6263640" y="2514600"/>
            <a:ext cx="5212080" cy="128016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28231" y="2642616"/>
            <a:ext cx="4882896" cy="1024127"/>
          </a:xfrm>
          <a:prstGeom prst="rect">
            <a:avLst/>
          </a:prstGeom>
          <a:noFill/>
        </p:spPr>
        <p:txBody>
          <a:bodyPr wrap="square">
            <a:spAutoFit/>
          </a:bodyPr>
          <a:lstStyle/>
          <a:p>
            <a:r>
              <a:rPr sz="1700" b="1">
                <a:solidFill>
                  <a:srgbClr val="12345C"/>
                </a:solidFill>
              </a:rPr>
              <a:t>Why weak</a:t>
            </a:r>
          </a:p>
          <a:p>
            <a:r>
              <a:rPr sz="1400">
                <a:solidFill>
                  <a:srgbClr val="162033"/>
                </a:solidFill>
              </a:rPr>
              <a:t>It overpromises revenue, implies implementation, and sounds like hype.</a:t>
            </a:r>
          </a:p>
        </p:txBody>
      </p:sp>
      <p:sp>
        <p:nvSpPr>
          <p:cNvPr id="10" name="Rounded Rectangle 9"/>
          <p:cNvSpPr/>
          <p:nvPr/>
        </p:nvSpPr>
        <p:spPr>
          <a:xfrm>
            <a:off x="685800" y="4160520"/>
            <a:ext cx="10789920" cy="123444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 y="4288536"/>
            <a:ext cx="10460736" cy="978408"/>
          </a:xfrm>
          <a:prstGeom prst="rect">
            <a:avLst/>
          </a:prstGeom>
          <a:noFill/>
        </p:spPr>
        <p:txBody>
          <a:bodyPr wrap="square">
            <a:spAutoFit/>
          </a:bodyPr>
          <a:lstStyle/>
          <a:p>
            <a:r>
              <a:rPr sz="1700" b="1">
                <a:solidFill>
                  <a:srgbClr val="12345C"/>
                </a:solidFill>
              </a:rPr>
              <a:t>Better version</a:t>
            </a:r>
          </a:p>
          <a:p>
            <a:r>
              <a:rPr sz="1400">
                <a:solidFill>
                  <a:srgbClr val="162033"/>
                </a:solidFill>
              </a:rPr>
              <a:t>We help you see where calls, forms, quotes, and follow-ups are slipping through the cracks. First we create a clear manual packet showing who needs attention, what status each lead is in, what message or callback should happen next, and which simple tools could support the workflow. We do not need your credentials or customer-system access for the first review.</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731520"/>
          </a:xfrm>
          <a:prstGeom prst="rect">
            <a:avLst/>
          </a:prstGeom>
          <a:noFill/>
        </p:spPr>
        <p:txBody>
          <a:bodyPr wrap="none">
            <a:spAutoFit/>
          </a:bodyPr>
          <a:lstStyle/>
          <a:p>
            <a:r>
              <a:rPr sz="3000" b="1">
                <a:solidFill>
                  <a:srgbClr val="162033"/>
                </a:solidFill>
              </a:rPr>
              <a:t>Practice Check: SMB Service-Led Offer Basics</a:t>
            </a:r>
          </a:p>
        </p:txBody>
      </p:sp>
      <p:sp>
        <p:nvSpPr>
          <p:cNvPr id="3" name="TextBox 2"/>
          <p:cNvSpPr txBox="1"/>
          <p:nvPr/>
        </p:nvSpPr>
        <p:spPr>
          <a:xfrm>
            <a:off x="658368" y="1042415"/>
            <a:ext cx="10424160" cy="384048"/>
          </a:xfrm>
          <a:prstGeom prst="rect">
            <a:avLst/>
          </a:prstGeom>
          <a:noFill/>
        </p:spPr>
        <p:txBody>
          <a:bodyPr wrap="none">
            <a:spAutoFit/>
          </a:bodyPr>
          <a:lstStyle/>
          <a:p>
            <a:r>
              <a:rPr sz="1400">
                <a:solidFill>
                  <a:srgbClr val="58697D"/>
                </a:solidFill>
              </a:rPr>
              <a:t>Use this slide for feedback</a:t>
            </a:r>
          </a:p>
        </p:txBody>
      </p:sp>
      <p:sp>
        <p:nvSpPr>
          <p:cNvPr id="4" name="Rounded Rectangle 3"/>
          <p:cNvSpPr/>
          <p:nvPr/>
        </p:nvSpPr>
        <p:spPr>
          <a:xfrm>
            <a:off x="685800" y="1325880"/>
            <a:ext cx="5257800" cy="274320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 y="1453895"/>
            <a:ext cx="4928616" cy="2487168"/>
          </a:xfrm>
          <a:prstGeom prst="rect">
            <a:avLst/>
          </a:prstGeom>
          <a:noFill/>
        </p:spPr>
        <p:txBody>
          <a:bodyPr wrap="square">
            <a:spAutoFit/>
          </a:bodyPr>
          <a:lstStyle/>
          <a:p>
            <a:r>
              <a:rPr sz="1700" b="1">
                <a:solidFill>
                  <a:srgbClr val="12345C"/>
                </a:solidFill>
              </a:rPr>
              <a:t>Self-check</a:t>
            </a:r>
          </a:p>
          <a:p>
            <a:r>
              <a:rPr sz="1400">
                <a:solidFill>
                  <a:srgbClr val="162033"/>
                </a:solidFill>
              </a:rPr>
              <a:t>Did I avoid promising revenue?
Did I avoid saying we will implement everything?
Did I avoid asking for credentials?
Did I explain the manual packet clearly?
Did I give a concrete next step?</a:t>
            </a:r>
          </a:p>
        </p:txBody>
      </p:sp>
      <p:sp>
        <p:nvSpPr>
          <p:cNvPr id="6" name="Rounded Rectangle 5"/>
          <p:cNvSpPr/>
          <p:nvPr/>
        </p:nvSpPr>
        <p:spPr>
          <a:xfrm>
            <a:off x="6263640" y="1325880"/>
            <a:ext cx="5212080" cy="274320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28231" y="1453895"/>
            <a:ext cx="4882896" cy="2487168"/>
          </a:xfrm>
          <a:prstGeom prst="rect">
            <a:avLst/>
          </a:prstGeom>
          <a:noFill/>
        </p:spPr>
        <p:txBody>
          <a:bodyPr wrap="square">
            <a:spAutoFit/>
          </a:bodyPr>
          <a:lstStyle/>
          <a:p>
            <a:r>
              <a:rPr sz="1700" b="1">
                <a:solidFill>
                  <a:srgbClr val="12345C"/>
                </a:solidFill>
              </a:rPr>
              <a:t>Answer key</a:t>
            </a:r>
          </a:p>
          <a:p>
            <a:r>
              <a:rPr sz="1400">
                <a:solidFill>
                  <a:srgbClr val="162033"/>
                </a:solidFill>
              </a:rPr>
              <a:t>A strong answer says we diagnose workflow leakage and produce a manual owner packet first. It names missed calls/forms/quotes/follow-ups, gives a practical deliverable, preserves boundaries, and asks for a sanitized intake or fake-scenario review as the next step.</a:t>
            </a:r>
          </a:p>
        </p:txBody>
      </p:sp>
      <p:sp>
        <p:nvSpPr>
          <p:cNvPr id="8" name="Rounded Rectangle 7"/>
          <p:cNvSpPr/>
          <p:nvPr/>
        </p:nvSpPr>
        <p:spPr>
          <a:xfrm>
            <a:off x="685800" y="4572000"/>
            <a:ext cx="10789920" cy="91440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4700016"/>
            <a:ext cx="10460736" cy="658368"/>
          </a:xfrm>
          <a:prstGeom prst="rect">
            <a:avLst/>
          </a:prstGeom>
          <a:noFill/>
        </p:spPr>
        <p:txBody>
          <a:bodyPr wrap="square">
            <a:spAutoFit/>
          </a:bodyPr>
          <a:lstStyle/>
          <a:p>
            <a:r>
              <a:rPr sz="1700" b="1">
                <a:solidFill>
                  <a:srgbClr val="12345C"/>
                </a:solidFill>
              </a:rPr>
              <a:t>Your turn</a:t>
            </a:r>
          </a:p>
          <a:p>
            <a:r>
              <a:rPr sz="1400">
                <a:solidFill>
                  <a:srgbClr val="162033"/>
                </a:solidFill>
              </a:rPr>
              <a:t>Explain it back in 90 seconds. Veritas scores clarity, scope control, workflow thinking, tool judgment, safety, and explain-back.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731520"/>
          </a:xfrm>
          <a:prstGeom prst="rect">
            <a:avLst/>
          </a:prstGeom>
          <a:noFill/>
        </p:spPr>
        <p:txBody>
          <a:bodyPr wrap="none">
            <a:spAutoFit/>
          </a:bodyPr>
          <a:lstStyle/>
          <a:p>
            <a:r>
              <a:rPr sz="3000" b="1">
                <a:solidFill>
                  <a:srgbClr val="162033"/>
                </a:solidFill>
              </a:rPr>
              <a:t>Training: Workflow Diagnosis: Trigger To Outcome</a:t>
            </a:r>
          </a:p>
        </p:txBody>
      </p:sp>
      <p:sp>
        <p:nvSpPr>
          <p:cNvPr id="3" name="TextBox 2"/>
          <p:cNvSpPr txBox="1"/>
          <p:nvPr/>
        </p:nvSpPr>
        <p:spPr>
          <a:xfrm>
            <a:off x="658368" y="1042415"/>
            <a:ext cx="10424160" cy="384048"/>
          </a:xfrm>
          <a:prstGeom prst="rect">
            <a:avLst/>
          </a:prstGeom>
          <a:noFill/>
        </p:spPr>
        <p:txBody>
          <a:bodyPr wrap="none">
            <a:spAutoFit/>
          </a:bodyPr>
          <a:lstStyle/>
          <a:p>
            <a:r>
              <a:rPr sz="1400">
                <a:solidFill>
                  <a:srgbClr val="58697D"/>
                </a:solidFill>
              </a:rPr>
              <a:t>Actual lesson content</a:t>
            </a:r>
          </a:p>
        </p:txBody>
      </p:sp>
      <p:sp>
        <p:nvSpPr>
          <p:cNvPr id="4" name="Rounded Rectangle 3"/>
          <p:cNvSpPr/>
          <p:nvPr/>
        </p:nvSpPr>
        <p:spPr>
          <a:xfrm>
            <a:off x="685800" y="1280160"/>
            <a:ext cx="5303520" cy="109728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 y="1408176"/>
            <a:ext cx="4974336" cy="841247"/>
          </a:xfrm>
          <a:prstGeom prst="rect">
            <a:avLst/>
          </a:prstGeom>
          <a:noFill/>
        </p:spPr>
        <p:txBody>
          <a:bodyPr wrap="square">
            <a:spAutoFit/>
          </a:bodyPr>
          <a:lstStyle/>
          <a:p>
            <a:r>
              <a:rPr sz="1700" b="1">
                <a:solidFill>
                  <a:srgbClr val="12345C"/>
                </a:solidFill>
              </a:rPr>
              <a:t>Objective</a:t>
            </a:r>
          </a:p>
          <a:p>
            <a:r>
              <a:rPr sz="1400">
                <a:solidFill>
                  <a:srgbClr val="162033"/>
                </a:solidFill>
              </a:rPr>
              <a:t>Randall can map a workflow using trigger, handoff, wait state, owner, and outcome.</a:t>
            </a:r>
          </a:p>
        </p:txBody>
      </p:sp>
      <p:sp>
        <p:nvSpPr>
          <p:cNvPr id="6" name="Rounded Rectangle 5"/>
          <p:cNvSpPr/>
          <p:nvPr/>
        </p:nvSpPr>
        <p:spPr>
          <a:xfrm>
            <a:off x="685800" y="2651760"/>
            <a:ext cx="5303520" cy="237744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779776"/>
            <a:ext cx="4974336" cy="2121408"/>
          </a:xfrm>
          <a:prstGeom prst="rect">
            <a:avLst/>
          </a:prstGeom>
          <a:noFill/>
        </p:spPr>
        <p:txBody>
          <a:bodyPr wrap="square">
            <a:spAutoFit/>
          </a:bodyPr>
          <a:lstStyle/>
          <a:p>
            <a:r>
              <a:rPr sz="1700" b="1">
                <a:solidFill>
                  <a:srgbClr val="12345C"/>
                </a:solidFill>
              </a:rPr>
              <a:t>Core lesson</a:t>
            </a:r>
          </a:p>
          <a:p>
            <a:r>
              <a:rPr sz="1400">
                <a:solidFill>
                  <a:srgbClr val="162033"/>
                </a:solidFill>
              </a:rPr>
              <a:t>A workflow is not just a task list. It is the path from something happening to a result being achieved.
Most SMB workflow problems happen at handoffs and wait states: nobody owns the next touch, the status is unclear, or the same work is tracked in too many places.
Before recommending software, map what triggers the work, who owns each step, where it waits, and what outcome the business actually wants.</a:t>
            </a:r>
          </a:p>
        </p:txBody>
      </p:sp>
      <p:sp>
        <p:nvSpPr>
          <p:cNvPr id="8" name="Rounded Rectangle 7"/>
          <p:cNvSpPr/>
          <p:nvPr/>
        </p:nvSpPr>
        <p:spPr>
          <a:xfrm>
            <a:off x="6263640" y="1280160"/>
            <a:ext cx="5257800" cy="182880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28231" y="1408176"/>
            <a:ext cx="4928616" cy="1572768"/>
          </a:xfrm>
          <a:prstGeom prst="rect">
            <a:avLst/>
          </a:prstGeom>
          <a:noFill/>
        </p:spPr>
        <p:txBody>
          <a:bodyPr wrap="square">
            <a:spAutoFit/>
          </a:bodyPr>
          <a:lstStyle/>
          <a:p>
            <a:r>
              <a:rPr sz="1700" b="1">
                <a:solidFill>
                  <a:srgbClr val="12345C"/>
                </a:solidFill>
              </a:rPr>
              <a:t>Key terms</a:t>
            </a:r>
          </a:p>
          <a:p>
            <a:r>
              <a:rPr sz="1400">
                <a:solidFill>
                  <a:srgbClr val="162033"/>
                </a:solidFill>
              </a:rPr>
              <a:t>Trigger: The event that starts the workflow.
Handoff: The moment responsibility moves from one person, system, or step to another.
Wait state: Where the workflow pauses until someone acts or information arrives.</a:t>
            </a:r>
          </a:p>
        </p:txBody>
      </p:sp>
      <p:sp>
        <p:nvSpPr>
          <p:cNvPr id="10" name="Rounded Rectangle 9"/>
          <p:cNvSpPr/>
          <p:nvPr/>
        </p:nvSpPr>
        <p:spPr>
          <a:xfrm>
            <a:off x="6263640" y="3429000"/>
            <a:ext cx="5257800" cy="160020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8231" y="3557016"/>
            <a:ext cx="4928616" cy="1344168"/>
          </a:xfrm>
          <a:prstGeom prst="rect">
            <a:avLst/>
          </a:prstGeom>
          <a:noFill/>
        </p:spPr>
        <p:txBody>
          <a:bodyPr wrap="square">
            <a:spAutoFit/>
          </a:bodyPr>
          <a:lstStyle/>
          <a:p>
            <a:r>
              <a:rPr sz="1700" b="1">
                <a:solidFill>
                  <a:srgbClr val="12345C"/>
                </a:solidFill>
              </a:rPr>
              <a:t>Practice</a:t>
            </a:r>
          </a:p>
          <a:p>
            <a:r>
              <a:rPr sz="1400">
                <a:solidFill>
                  <a:srgbClr val="162033"/>
                </a:solidFill>
              </a:rPr>
              <a:t>Name the trigger.
List each handoff.
Mark each wait state.
Assign an owner to the next touch.
Define the outcome.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731520"/>
          </a:xfrm>
          <a:prstGeom prst="rect">
            <a:avLst/>
          </a:prstGeom>
          <a:noFill/>
        </p:spPr>
        <p:txBody>
          <a:bodyPr wrap="none">
            <a:spAutoFit/>
          </a:bodyPr>
          <a:lstStyle/>
          <a:p>
            <a:r>
              <a:rPr sz="3000" b="1">
                <a:solidFill>
                  <a:srgbClr val="162033"/>
                </a:solidFill>
              </a:rPr>
              <a:t>Worked Example: Workflow Diagnosis: Trigger To Outcome</a:t>
            </a:r>
          </a:p>
        </p:txBody>
      </p:sp>
      <p:sp>
        <p:nvSpPr>
          <p:cNvPr id="3" name="TextBox 2"/>
          <p:cNvSpPr txBox="1"/>
          <p:nvPr/>
        </p:nvSpPr>
        <p:spPr>
          <a:xfrm>
            <a:off x="658368" y="1042415"/>
            <a:ext cx="10424160" cy="384048"/>
          </a:xfrm>
          <a:prstGeom prst="rect">
            <a:avLst/>
          </a:prstGeom>
          <a:noFill/>
        </p:spPr>
        <p:txBody>
          <a:bodyPr wrap="none">
            <a:spAutoFit/>
          </a:bodyPr>
          <a:lstStyle/>
          <a:p>
            <a:r>
              <a:rPr sz="1400">
                <a:solidFill>
                  <a:srgbClr val="58697D"/>
                </a:solidFill>
              </a:rPr>
              <a:t>Compare weak vs better framing</a:t>
            </a:r>
          </a:p>
        </p:txBody>
      </p:sp>
      <p:sp>
        <p:nvSpPr>
          <p:cNvPr id="4" name="Rounded Rectangle 3"/>
          <p:cNvSpPr/>
          <p:nvPr/>
        </p:nvSpPr>
        <p:spPr>
          <a:xfrm>
            <a:off x="685800" y="1234440"/>
            <a:ext cx="10789920" cy="91440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 y="1362456"/>
            <a:ext cx="10460736" cy="658368"/>
          </a:xfrm>
          <a:prstGeom prst="rect">
            <a:avLst/>
          </a:prstGeom>
          <a:noFill/>
        </p:spPr>
        <p:txBody>
          <a:bodyPr wrap="square">
            <a:spAutoFit/>
          </a:bodyPr>
          <a:lstStyle/>
          <a:p>
            <a:r>
              <a:rPr sz="1700" b="1">
                <a:solidFill>
                  <a:srgbClr val="12345C"/>
                </a:solidFill>
              </a:rPr>
              <a:t>Scenario</a:t>
            </a:r>
          </a:p>
          <a:p>
            <a:r>
              <a:rPr sz="1400">
                <a:solidFill>
                  <a:srgbClr val="162033"/>
                </a:solidFill>
              </a:rPr>
              <a:t>A contractor receives a job request, visits the site, sends a quote, waits for approval, schedules materials, completes work, and sends an invoice.</a:t>
            </a:r>
          </a:p>
        </p:txBody>
      </p:sp>
      <p:sp>
        <p:nvSpPr>
          <p:cNvPr id="6" name="Rounded Rectangle 5"/>
          <p:cNvSpPr/>
          <p:nvPr/>
        </p:nvSpPr>
        <p:spPr>
          <a:xfrm>
            <a:off x="685800" y="2514600"/>
            <a:ext cx="5212080" cy="128016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2642616"/>
            <a:ext cx="4882896" cy="1024127"/>
          </a:xfrm>
          <a:prstGeom prst="rect">
            <a:avLst/>
          </a:prstGeom>
          <a:noFill/>
        </p:spPr>
        <p:txBody>
          <a:bodyPr wrap="square">
            <a:spAutoFit/>
          </a:bodyPr>
          <a:lstStyle/>
          <a:p>
            <a:r>
              <a:rPr sz="1700" b="1">
                <a:solidFill>
                  <a:srgbClr val="12345C"/>
                </a:solidFill>
              </a:rPr>
              <a:t>Weak version</a:t>
            </a:r>
          </a:p>
          <a:p>
            <a:r>
              <a:rPr sz="1400">
                <a:solidFill>
                  <a:srgbClr val="162033"/>
                </a:solidFill>
              </a:rPr>
              <a:t>You need a CRM.</a:t>
            </a:r>
          </a:p>
        </p:txBody>
      </p:sp>
      <p:sp>
        <p:nvSpPr>
          <p:cNvPr id="8" name="Rounded Rectangle 7"/>
          <p:cNvSpPr/>
          <p:nvPr/>
        </p:nvSpPr>
        <p:spPr>
          <a:xfrm>
            <a:off x="6263640" y="2514600"/>
            <a:ext cx="5212080" cy="128016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28231" y="2642616"/>
            <a:ext cx="4882896" cy="1024127"/>
          </a:xfrm>
          <a:prstGeom prst="rect">
            <a:avLst/>
          </a:prstGeom>
          <a:noFill/>
        </p:spPr>
        <p:txBody>
          <a:bodyPr wrap="square">
            <a:spAutoFit/>
          </a:bodyPr>
          <a:lstStyle/>
          <a:p>
            <a:r>
              <a:rPr sz="1700" b="1">
                <a:solidFill>
                  <a:srgbClr val="12345C"/>
                </a:solidFill>
              </a:rPr>
              <a:t>Why weak</a:t>
            </a:r>
          </a:p>
          <a:p>
            <a:r>
              <a:rPr sz="1400">
                <a:solidFill>
                  <a:srgbClr val="162033"/>
                </a:solidFill>
              </a:rPr>
              <a:t>It jumps to a tool before identifying the real bottleneck.</a:t>
            </a:r>
          </a:p>
        </p:txBody>
      </p:sp>
      <p:sp>
        <p:nvSpPr>
          <p:cNvPr id="10" name="Rounded Rectangle 9"/>
          <p:cNvSpPr/>
          <p:nvPr/>
        </p:nvSpPr>
        <p:spPr>
          <a:xfrm>
            <a:off x="685800" y="4160520"/>
            <a:ext cx="10789920" cy="123444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 y="4288536"/>
            <a:ext cx="10460736" cy="978408"/>
          </a:xfrm>
          <a:prstGeom prst="rect">
            <a:avLst/>
          </a:prstGeom>
          <a:noFill/>
        </p:spPr>
        <p:txBody>
          <a:bodyPr wrap="square">
            <a:spAutoFit/>
          </a:bodyPr>
          <a:lstStyle/>
          <a:p>
            <a:r>
              <a:rPr sz="1700" b="1">
                <a:solidFill>
                  <a:srgbClr val="12345C"/>
                </a:solidFill>
              </a:rPr>
              <a:t>Better version</a:t>
            </a:r>
          </a:p>
          <a:p>
            <a:r>
              <a:rPr sz="1400">
                <a:solidFill>
                  <a:srgbClr val="162033"/>
                </a:solidFill>
              </a:rPr>
              <a:t>The issue appears to be quote follow-up and invoice timing. We should map owner, due date, and next touch before recommending a tool.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731520"/>
          </a:xfrm>
          <a:prstGeom prst="rect">
            <a:avLst/>
          </a:prstGeom>
          <a:noFill/>
        </p:spPr>
        <p:txBody>
          <a:bodyPr wrap="none">
            <a:spAutoFit/>
          </a:bodyPr>
          <a:lstStyle/>
          <a:p>
            <a:r>
              <a:rPr sz="3000" b="1">
                <a:solidFill>
                  <a:srgbClr val="162033"/>
                </a:solidFill>
              </a:rPr>
              <a:t>Practice Check: Workflow Diagnosis: Trigger To Outcome</a:t>
            </a:r>
          </a:p>
        </p:txBody>
      </p:sp>
      <p:sp>
        <p:nvSpPr>
          <p:cNvPr id="3" name="TextBox 2"/>
          <p:cNvSpPr txBox="1"/>
          <p:nvPr/>
        </p:nvSpPr>
        <p:spPr>
          <a:xfrm>
            <a:off x="658368" y="1042415"/>
            <a:ext cx="10424160" cy="384048"/>
          </a:xfrm>
          <a:prstGeom prst="rect">
            <a:avLst/>
          </a:prstGeom>
          <a:noFill/>
        </p:spPr>
        <p:txBody>
          <a:bodyPr wrap="none">
            <a:spAutoFit/>
          </a:bodyPr>
          <a:lstStyle/>
          <a:p>
            <a:r>
              <a:rPr sz="1400">
                <a:solidFill>
                  <a:srgbClr val="58697D"/>
                </a:solidFill>
              </a:rPr>
              <a:t>Use this slide for feedback</a:t>
            </a:r>
          </a:p>
        </p:txBody>
      </p:sp>
      <p:sp>
        <p:nvSpPr>
          <p:cNvPr id="4" name="Rounded Rectangle 3"/>
          <p:cNvSpPr/>
          <p:nvPr/>
        </p:nvSpPr>
        <p:spPr>
          <a:xfrm>
            <a:off x="685800" y="1325880"/>
            <a:ext cx="5257800" cy="274320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 y="1453895"/>
            <a:ext cx="4928616" cy="2487168"/>
          </a:xfrm>
          <a:prstGeom prst="rect">
            <a:avLst/>
          </a:prstGeom>
          <a:noFill/>
        </p:spPr>
        <p:txBody>
          <a:bodyPr wrap="square">
            <a:spAutoFit/>
          </a:bodyPr>
          <a:lstStyle/>
          <a:p>
            <a:r>
              <a:rPr sz="1700" b="1">
                <a:solidFill>
                  <a:srgbClr val="12345C"/>
                </a:solidFill>
              </a:rPr>
              <a:t>Self-check</a:t>
            </a:r>
          </a:p>
          <a:p>
            <a:r>
              <a:rPr sz="1400">
                <a:solidFill>
                  <a:srgbClr val="162033"/>
                </a:solidFill>
              </a:rPr>
              <a:t>Did I identify the trigger?
Did I find at least one wait state?
Did I assign ownership?
Did I avoid tool-first thinking?</a:t>
            </a:r>
          </a:p>
        </p:txBody>
      </p:sp>
      <p:sp>
        <p:nvSpPr>
          <p:cNvPr id="6" name="Rounded Rectangle 5"/>
          <p:cNvSpPr/>
          <p:nvPr/>
        </p:nvSpPr>
        <p:spPr>
          <a:xfrm>
            <a:off x="6263640" y="1325880"/>
            <a:ext cx="5212080" cy="274320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28231" y="1453895"/>
            <a:ext cx="4882896" cy="2487168"/>
          </a:xfrm>
          <a:prstGeom prst="rect">
            <a:avLst/>
          </a:prstGeom>
          <a:noFill/>
        </p:spPr>
        <p:txBody>
          <a:bodyPr wrap="square">
            <a:spAutoFit/>
          </a:bodyPr>
          <a:lstStyle/>
          <a:p>
            <a:r>
              <a:rPr sz="1700" b="1">
                <a:solidFill>
                  <a:srgbClr val="12345C"/>
                </a:solidFill>
              </a:rPr>
              <a:t>Answer key</a:t>
            </a:r>
          </a:p>
          <a:p>
            <a:r>
              <a:rPr sz="1400">
                <a:solidFill>
                  <a:srgbClr val="162033"/>
                </a:solidFill>
              </a:rPr>
              <a:t>A strong workflow diagnosis names the start event, handoffs, wait states, owner, and desired outcome before proposing automation.</a:t>
            </a:r>
          </a:p>
        </p:txBody>
      </p:sp>
      <p:sp>
        <p:nvSpPr>
          <p:cNvPr id="8" name="Rounded Rectangle 7"/>
          <p:cNvSpPr/>
          <p:nvPr/>
        </p:nvSpPr>
        <p:spPr>
          <a:xfrm>
            <a:off x="685800" y="4572000"/>
            <a:ext cx="10789920" cy="91440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4700016"/>
            <a:ext cx="10460736" cy="658368"/>
          </a:xfrm>
          <a:prstGeom prst="rect">
            <a:avLst/>
          </a:prstGeom>
          <a:noFill/>
        </p:spPr>
        <p:txBody>
          <a:bodyPr wrap="square">
            <a:spAutoFit/>
          </a:bodyPr>
          <a:lstStyle/>
          <a:p>
            <a:r>
              <a:rPr sz="1700" b="1">
                <a:solidFill>
                  <a:srgbClr val="12345C"/>
                </a:solidFill>
              </a:rPr>
              <a:t>Your turn</a:t>
            </a:r>
          </a:p>
          <a:p>
            <a:r>
              <a:rPr sz="1400">
                <a:solidFill>
                  <a:srgbClr val="162033"/>
                </a:solidFill>
              </a:rPr>
              <a:t>Explain it back in 90 seconds. Veritas scores clarity, scope control, workflow thinking, tool judgment, safety, and explain-back.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731520"/>
          </a:xfrm>
          <a:prstGeom prst="rect">
            <a:avLst/>
          </a:prstGeom>
          <a:noFill/>
        </p:spPr>
        <p:txBody>
          <a:bodyPr wrap="none">
            <a:spAutoFit/>
          </a:bodyPr>
          <a:lstStyle/>
          <a:p>
            <a:r>
              <a:rPr sz="3000" b="1">
                <a:solidFill>
                  <a:srgbClr val="162033"/>
                </a:solidFill>
              </a:rPr>
              <a:t>Tool Pattern Decision Drill</a:t>
            </a:r>
          </a:p>
        </p:txBody>
      </p:sp>
      <p:sp>
        <p:nvSpPr>
          <p:cNvPr id="3" name="TextBox 2"/>
          <p:cNvSpPr txBox="1"/>
          <p:nvPr/>
        </p:nvSpPr>
        <p:spPr>
          <a:xfrm>
            <a:off x="658368" y="1042415"/>
            <a:ext cx="10424160" cy="384048"/>
          </a:xfrm>
          <a:prstGeom prst="rect">
            <a:avLst/>
          </a:prstGeom>
          <a:noFill/>
        </p:spPr>
        <p:txBody>
          <a:bodyPr wrap="none">
            <a:spAutoFit/>
          </a:bodyPr>
          <a:lstStyle/>
          <a:p>
            <a:r>
              <a:rPr sz="1400">
                <a:solidFill>
                  <a:srgbClr val="58697D"/>
                </a:solidFill>
              </a:rPr>
              <a:t>Pick the simplest pattern before recommending a platform</a:t>
            </a:r>
          </a:p>
        </p:txBody>
      </p:sp>
      <p:sp>
        <p:nvSpPr>
          <p:cNvPr id="4" name="Rounded Rectangle 3"/>
          <p:cNvSpPr/>
          <p:nvPr/>
        </p:nvSpPr>
        <p:spPr>
          <a:xfrm>
            <a:off x="685800" y="1325880"/>
            <a:ext cx="5166360" cy="123444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0392" y="1453895"/>
            <a:ext cx="4837176" cy="978408"/>
          </a:xfrm>
          <a:prstGeom prst="rect">
            <a:avLst/>
          </a:prstGeom>
          <a:noFill/>
        </p:spPr>
        <p:txBody>
          <a:bodyPr wrap="square">
            <a:spAutoFit/>
          </a:bodyPr>
          <a:lstStyle/>
          <a:p>
            <a:r>
              <a:rPr sz="1700" b="1">
                <a:solidFill>
                  <a:srgbClr val="12345C"/>
                </a:solidFill>
              </a:rPr>
              <a:t>Zapier</a:t>
            </a:r>
          </a:p>
          <a:p>
            <a:r>
              <a:rPr sz="1400">
                <a:solidFill>
                  <a:srgbClr val="162033"/>
                </a:solidFill>
              </a:rPr>
              <a:t>simple app-to-app automations
Starter: form submission -&gt; owner alert -&gt; tracking row</a:t>
            </a:r>
          </a:p>
        </p:txBody>
      </p:sp>
      <p:sp>
        <p:nvSpPr>
          <p:cNvPr id="6" name="Rounded Rectangle 5"/>
          <p:cNvSpPr/>
          <p:nvPr/>
        </p:nvSpPr>
        <p:spPr>
          <a:xfrm>
            <a:off x="6217920" y="1325880"/>
            <a:ext cx="5166360" cy="123444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82512" y="1453895"/>
            <a:ext cx="4837176" cy="978408"/>
          </a:xfrm>
          <a:prstGeom prst="rect">
            <a:avLst/>
          </a:prstGeom>
          <a:noFill/>
        </p:spPr>
        <p:txBody>
          <a:bodyPr wrap="square">
            <a:spAutoFit/>
          </a:bodyPr>
          <a:lstStyle/>
          <a:p>
            <a:r>
              <a:rPr sz="1700" b="1">
                <a:solidFill>
                  <a:srgbClr val="12345C"/>
                </a:solidFill>
              </a:rPr>
              <a:t>Make</a:t>
            </a:r>
          </a:p>
          <a:p>
            <a:r>
              <a:rPr sz="1400">
                <a:solidFill>
                  <a:srgbClr val="162033"/>
                </a:solidFill>
              </a:rPr>
              <a:t>branching workflows and data routing
Starter: inquiry -&gt; classify -&gt; route -&gt; log</a:t>
            </a:r>
          </a:p>
        </p:txBody>
      </p:sp>
      <p:sp>
        <p:nvSpPr>
          <p:cNvPr id="8" name="Rounded Rectangle 7"/>
          <p:cNvSpPr/>
          <p:nvPr/>
        </p:nvSpPr>
        <p:spPr>
          <a:xfrm>
            <a:off x="685800" y="2880360"/>
            <a:ext cx="5166360" cy="123444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3008376"/>
            <a:ext cx="4837176" cy="978408"/>
          </a:xfrm>
          <a:prstGeom prst="rect">
            <a:avLst/>
          </a:prstGeom>
          <a:noFill/>
        </p:spPr>
        <p:txBody>
          <a:bodyPr wrap="square">
            <a:spAutoFit/>
          </a:bodyPr>
          <a:lstStyle/>
          <a:p>
            <a:r>
              <a:rPr sz="1700" b="1">
                <a:solidFill>
                  <a:srgbClr val="12345C"/>
                </a:solidFill>
              </a:rPr>
              <a:t>n8n</a:t>
            </a:r>
          </a:p>
          <a:p>
            <a:r>
              <a:rPr sz="1400">
                <a:solidFill>
                  <a:srgbClr val="162033"/>
                </a:solidFill>
              </a:rPr>
              <a:t>more technical/self-hosted automation concepts
Starter: webhook -&gt; validate -&gt; transform -&gt; queue</a:t>
            </a:r>
          </a:p>
        </p:txBody>
      </p:sp>
      <p:sp>
        <p:nvSpPr>
          <p:cNvPr id="10" name="Rounded Rectangle 9"/>
          <p:cNvSpPr/>
          <p:nvPr/>
        </p:nvSpPr>
        <p:spPr>
          <a:xfrm>
            <a:off x="6217920" y="2880360"/>
            <a:ext cx="5166360" cy="123444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2512" y="3008376"/>
            <a:ext cx="4837176" cy="978408"/>
          </a:xfrm>
          <a:prstGeom prst="rect">
            <a:avLst/>
          </a:prstGeom>
          <a:noFill/>
        </p:spPr>
        <p:txBody>
          <a:bodyPr wrap="square">
            <a:spAutoFit/>
          </a:bodyPr>
          <a:lstStyle/>
          <a:p>
            <a:r>
              <a:rPr sz="1700" b="1">
                <a:solidFill>
                  <a:srgbClr val="12345C"/>
                </a:solidFill>
              </a:rPr>
              <a:t>Google Sheets / Airtable</a:t>
            </a:r>
          </a:p>
          <a:p>
            <a:r>
              <a:rPr sz="1400">
                <a:solidFill>
                  <a:srgbClr val="162033"/>
                </a:solidFill>
              </a:rPr>
              <a:t>simple operating tables and status boards
Starter: lead/job row -&gt; status -&gt; owner -&gt; next touch</a:t>
            </a:r>
          </a:p>
        </p:txBody>
      </p:sp>
      <p:sp>
        <p:nvSpPr>
          <p:cNvPr id="12" name="Rounded Rectangle 11"/>
          <p:cNvSpPr/>
          <p:nvPr/>
        </p:nvSpPr>
        <p:spPr>
          <a:xfrm>
            <a:off x="685800" y="4434840"/>
            <a:ext cx="5166360" cy="1234440"/>
          </a:xfrm>
          <a:prstGeom prst="roundRect">
            <a:avLst/>
          </a:prstGeom>
          <a:solidFill>
            <a:srgbClr val="F6F8FC"/>
          </a:solidFill>
          <a:ln>
            <a:solidFill>
              <a:srgbClr val="D8E1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4562855"/>
            <a:ext cx="4837176" cy="978408"/>
          </a:xfrm>
          <a:prstGeom prst="rect">
            <a:avLst/>
          </a:prstGeom>
          <a:noFill/>
        </p:spPr>
        <p:txBody>
          <a:bodyPr wrap="square">
            <a:spAutoFit/>
          </a:bodyPr>
          <a:lstStyle/>
          <a:p>
            <a:r>
              <a:rPr sz="1700" b="1">
                <a:solidFill>
                  <a:srgbClr val="12345C"/>
                </a:solidFill>
              </a:rPr>
              <a:t>OpenPhone / Twilio</a:t>
            </a:r>
          </a:p>
          <a:p>
            <a:r>
              <a:rPr sz="1400">
                <a:solidFill>
                  <a:srgbClr val="162033"/>
                </a:solidFill>
              </a:rPr>
              <a:t>phone/SMS workflow concepts
Starter: missed call -&gt; internal alert -&gt; manual callback queue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