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RTX Corporation (NYSE: RTX)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Visual investment deck | Generated from Veritas report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Q1 execution was solid and guidance improved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Analysts still see upside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Chart remains weak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Current stance: bench until repair</a:t>
            </a:r>
          </a:p>
        </p:txBody>
      </p:sp>
      <p:pic>
        <p:nvPicPr>
          <p:cNvPr id="5" name="Picture 4" descr="rtx-price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88720"/>
            <a:ext cx="6492240" cy="32843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What matters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417320"/>
            <a:ext cx="2898648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Close</a:t>
            </a:r>
          </a:p>
          <a:p>
            <a:r>
              <a:rPr sz="2000" b="1">
                <a:solidFill>
                  <a:srgbClr val="111111"/>
                </a:solidFill>
              </a:rPr>
              <a:t>$174.26</a:t>
            </a:r>
          </a:p>
          <a:p>
            <a:r>
              <a:rPr sz="1000">
                <a:solidFill>
                  <a:srgbClr val="B94728"/>
                </a:solidFill>
              </a:rPr>
              <a:t>52-wk high $214.50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2588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1104" y="1417320"/>
            <a:ext cx="2898648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Consensus target</a:t>
            </a:r>
          </a:p>
          <a:p>
            <a:r>
              <a:rPr sz="2000" b="1">
                <a:solidFill>
                  <a:srgbClr val="111111"/>
                </a:solidFill>
              </a:rPr>
              <a:t>$215.06</a:t>
            </a:r>
          </a:p>
          <a:p>
            <a:r>
              <a:rPr sz="1000">
                <a:solidFill>
                  <a:srgbClr val="0D8A53"/>
                </a:solidFill>
              </a:rPr>
              <a:t>22 analysts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32588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44383" y="1417320"/>
            <a:ext cx="2898648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Current stance</a:t>
            </a:r>
          </a:p>
          <a:p>
            <a:r>
              <a:rPr sz="2000" b="1">
                <a:solidFill>
                  <a:srgbClr val="111111"/>
                </a:solidFill>
              </a:rPr>
              <a:t>Bench</a:t>
            </a:r>
          </a:p>
          <a:p>
            <a:r>
              <a:rPr sz="1000">
                <a:solidFill>
                  <a:srgbClr val="B94728"/>
                </a:solidFill>
              </a:rPr>
              <a:t>Wait for repair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Solid quarter, stronger guide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Backlog remains supportive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Analyst view is constructive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Technical picture is still the blocker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Do not force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0632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Business: credible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Quarter: supportive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Chart: weak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Action: patience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Upgrade path: repair + reclaim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Q1 2026 Results and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Strong quarter, but not enough to override weak structure</a:t>
            </a:r>
          </a:p>
        </p:txBody>
      </p:sp>
      <p:pic>
        <p:nvPicPr>
          <p:cNvPr id="4" name="Picture 3" descr="rtx-earning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27080" cy="61464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Revenue, EPS, EBITDA, and backlog all support the business case</a:t>
            </a:r>
          </a:p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Guide improved, but price still has not confirmed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Segment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Where the quarter was strongest</a:t>
            </a:r>
          </a:p>
        </p:txBody>
      </p:sp>
      <p:pic>
        <p:nvPicPr>
          <p:cNvPr id="4" name="Picture 3" descr="rtx-segment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27080" cy="39851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Raytheon and Pratt &amp; Whitney led the quarter</a:t>
            </a:r>
          </a:p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Collins remained positive but softer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Historical Financial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Revenue and EPS trajectory</a:t>
            </a:r>
          </a:p>
        </p:txBody>
      </p:sp>
      <p:pic>
        <p:nvPicPr>
          <p:cNvPr id="4" name="Picture 3" descr="rtx-history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27080" cy="4780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Business trend is improving</a:t>
            </a:r>
          </a:p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The problem is timing, not legitimacy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Technical and Portfolio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Why the business can be fine while the stock is still a 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08760"/>
            <a:ext cx="2898648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20D / 50D / 200D</a:t>
            </a:r>
          </a:p>
          <a:p>
            <a:r>
              <a:rPr sz="2000" b="1">
                <a:solidFill>
                  <a:srgbClr val="111111"/>
                </a:solidFill>
              </a:rPr>
              <a:t>193.9 / 199.1 / 178.1</a:t>
            </a:r>
          </a:p>
          <a:p>
            <a:r>
              <a:rPr sz="1000">
                <a:solidFill>
                  <a:srgbClr val="B94728"/>
                </a:solidFill>
              </a:rPr>
              <a:t>Price remains below all three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41732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1104" y="1508760"/>
            <a:ext cx="2898648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Support / resistance</a:t>
            </a:r>
          </a:p>
          <a:p>
            <a:r>
              <a:rPr sz="2000" b="1">
                <a:solidFill>
                  <a:srgbClr val="111111"/>
                </a:solidFill>
              </a:rPr>
              <a:t>174.3 / 203.5</a:t>
            </a:r>
          </a:p>
          <a:p>
            <a:r>
              <a:rPr sz="1000">
                <a:solidFill>
                  <a:srgbClr val="B94728"/>
                </a:solidFill>
              </a:rPr>
              <a:t>Recent range still weak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44383" y="1508760"/>
            <a:ext cx="2898648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Action</a:t>
            </a:r>
          </a:p>
          <a:p>
            <a:r>
              <a:rPr sz="2000" b="1">
                <a:solidFill>
                  <a:srgbClr val="111111"/>
                </a:solidFill>
              </a:rPr>
              <a:t>Bench / no action</a:t>
            </a:r>
          </a:p>
          <a:p>
            <a:r>
              <a:rPr sz="1000">
                <a:solidFill>
                  <a:srgbClr val="B94728"/>
                </a:solidFill>
              </a:rPr>
              <a:t>Wait for technical repair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Below 20D, 50D, and 200D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That is weak posture, not constructive posture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Good guidance does not override bad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1546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Upgrade only after support repair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Then reclaim moving averages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Then define entry and invalidation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What can still go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Execution risk</a:t>
            </a:r>
          </a:p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Supply-chain and program risk</a:t>
            </a:r>
          </a:p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Chart weakness can trap capital</a:t>
            </a:r>
          </a:p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Analyst upside can stay theoretical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5544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Defense theme does not guarantee entry quality</a:t>
            </a:r>
          </a:p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Post-earnings tape still needs repair</a:t>
            </a:r>
          </a:p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Better setups elsewhere raise opportunity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Decision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Bottom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54480"/>
            <a:ext cx="2898648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Verdict</a:t>
            </a:r>
          </a:p>
          <a:p>
            <a:r>
              <a:rPr sz="2000" b="1">
                <a:solidFill>
                  <a:srgbClr val="111111"/>
                </a:solidFill>
              </a:rPr>
              <a:t>Bench</a:t>
            </a:r>
          </a:p>
          <a:p>
            <a:r>
              <a:rPr sz="1000">
                <a:solidFill>
                  <a:srgbClr val="B94728"/>
                </a:solidFill>
              </a:rPr>
              <a:t>Not a force-buy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46304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1104" y="1554480"/>
            <a:ext cx="2898648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Upgrade trigger</a:t>
            </a:r>
          </a:p>
          <a:p>
            <a:r>
              <a:rPr sz="2000" b="1">
                <a:solidFill>
                  <a:srgbClr val="111111"/>
                </a:solidFill>
              </a:rPr>
              <a:t>Repair + reclaim</a:t>
            </a:r>
          </a:p>
          <a:p>
            <a:r>
              <a:rPr sz="1000">
                <a:solidFill>
                  <a:srgbClr val="0D8A53"/>
                </a:solidFill>
              </a:rPr>
              <a:t>Support base plus MA improvement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6304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44383" y="1554480"/>
            <a:ext cx="2898648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Downgrade trigger</a:t>
            </a:r>
          </a:p>
          <a:p>
            <a:r>
              <a:rPr sz="2000" b="1">
                <a:solidFill>
                  <a:srgbClr val="111111"/>
                </a:solidFill>
              </a:rPr>
              <a:t>Fresh breakdown</a:t>
            </a:r>
          </a:p>
          <a:p>
            <a:r>
              <a:rPr sz="1000">
                <a:solidFill>
                  <a:srgbClr val="B94728"/>
                </a:solidFill>
              </a:rPr>
              <a:t>Continued weakness below recent 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297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Credible company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Supportive quarter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Weak chart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Correct posture: patience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566160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Do not force capital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Wait for technical repair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Use price, not persuasion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